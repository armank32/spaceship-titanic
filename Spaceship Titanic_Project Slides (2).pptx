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Urbanist Medium"/>
      <p:regular r:id="rId26"/>
      <p:bold r:id="rId27"/>
      <p:italic r:id="rId28"/>
      <p:boldItalic r:id="rId29"/>
    </p:embeddedFont>
    <p:embeddedFont>
      <p:font typeface="Urbanist SemiBold"/>
      <p:regular r:id="rId30"/>
      <p:bold r:id="rId31"/>
      <p:italic r:id="rId32"/>
      <p:boldItalic r:id="rId33"/>
    </p:embeddedFont>
    <p:embeddedFont>
      <p:font typeface="Urbanis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79B88B-9294-4131-A92D-C130A6BC965C}">
  <a:tblStyle styleId="{5C79B88B-9294-4131-A92D-C130A6BC965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UrbanistMedium-regular.fntdata"/><Relationship Id="rId25" Type="http://schemas.openxmlformats.org/officeDocument/2006/relationships/slide" Target="slides/slide19.xml"/><Relationship Id="rId28" Type="http://schemas.openxmlformats.org/officeDocument/2006/relationships/font" Target="fonts/UrbanistMedium-italic.fntdata"/><Relationship Id="rId27" Type="http://schemas.openxmlformats.org/officeDocument/2006/relationships/font" Target="fonts/Urbanist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UrbanistMedium-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rbanistSemiBold-bold.fntdata"/><Relationship Id="rId30" Type="http://schemas.openxmlformats.org/officeDocument/2006/relationships/font" Target="fonts/UrbanistSemiBold-regular.fntdata"/><Relationship Id="rId11" Type="http://schemas.openxmlformats.org/officeDocument/2006/relationships/slide" Target="slides/slide5.xml"/><Relationship Id="rId33" Type="http://schemas.openxmlformats.org/officeDocument/2006/relationships/font" Target="fonts/UrbanistSemiBold-boldItalic.fntdata"/><Relationship Id="rId10" Type="http://schemas.openxmlformats.org/officeDocument/2006/relationships/slide" Target="slides/slide4.xml"/><Relationship Id="rId32" Type="http://schemas.openxmlformats.org/officeDocument/2006/relationships/font" Target="fonts/UrbanistSemiBold-italic.fntdata"/><Relationship Id="rId13" Type="http://schemas.openxmlformats.org/officeDocument/2006/relationships/slide" Target="slides/slide7.xml"/><Relationship Id="rId35" Type="http://schemas.openxmlformats.org/officeDocument/2006/relationships/font" Target="fonts/Urbanist-bold.fntdata"/><Relationship Id="rId12" Type="http://schemas.openxmlformats.org/officeDocument/2006/relationships/slide" Target="slides/slide6.xml"/><Relationship Id="rId34" Type="http://schemas.openxmlformats.org/officeDocument/2006/relationships/font" Target="fonts/Urbanist-regular.fntdata"/><Relationship Id="rId15" Type="http://schemas.openxmlformats.org/officeDocument/2006/relationships/slide" Target="slides/slide9.xml"/><Relationship Id="rId37" Type="http://schemas.openxmlformats.org/officeDocument/2006/relationships/font" Target="fonts/Urbanist-boldItalic.fntdata"/><Relationship Id="rId14" Type="http://schemas.openxmlformats.org/officeDocument/2006/relationships/slide" Target="slides/slide8.xml"/><Relationship Id="rId36" Type="http://schemas.openxmlformats.org/officeDocument/2006/relationships/font" Target="fonts/Urbanist-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e265d7e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ae265d7e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ae265d7ed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ae265d7ed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ae265d7ed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ae265d7ed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ae265d7ed4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ae265d7ed4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ae265d7ed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ae265d7ed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ae265d7ed4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ae265d7ed4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ae265d7ed4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ae265d7ed4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ae4fc53e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ae4fc53e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ae4fc53eb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ae4fc53eb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e4fc53eb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ae4fc53eb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ae265d7ed4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ae265d7ed4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ae265d7ed4_0_1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ae265d7ed4_0_1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e4fc53eb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ae4fc53eb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ae265d7ed4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ae265d7ed4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ae4fc53eb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ae4fc53eb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e4fc53eb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ae4fc53eb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e265d7ed4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ae265d7ed4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ae6588490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ae6588490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ae265d7ed4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ae265d7ed4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2" name="Google Shape;82;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0" name="Google Shape;120;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8" name="Google Shape;158;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2" name="Google Shape;162;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1" name="Google Shape;181;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5" name="Google Shape;225;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7" name="Google Shape;247;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3" name="Google Shape;253;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8" name="Google Shape;268;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4" name="Google Shape;274;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9" name="Google Shape;299;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1" name="Google Shape;321;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15.png"/><Relationship Id="rId5"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1"/>
          <p:cNvSpPr/>
          <p:nvPr/>
        </p:nvSpPr>
        <p:spPr>
          <a:xfrm>
            <a:off x="228600" y="4113375"/>
            <a:ext cx="17718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sp>
        <p:nvSpPr>
          <p:cNvPr id="438" name="Google Shape;438;p41"/>
          <p:cNvSpPr/>
          <p:nvPr/>
        </p:nvSpPr>
        <p:spPr>
          <a:xfrm>
            <a:off x="2113325" y="4113375"/>
            <a:ext cx="1132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grpSp>
        <p:nvGrpSpPr>
          <p:cNvPr id="439" name="Google Shape;439;p41"/>
          <p:cNvGrpSpPr/>
          <p:nvPr/>
        </p:nvGrpSpPr>
        <p:grpSpPr>
          <a:xfrm>
            <a:off x="228591" y="3127350"/>
            <a:ext cx="233094" cy="233094"/>
            <a:chOff x="259788" y="1923155"/>
            <a:chExt cx="409800" cy="409800"/>
          </a:xfrm>
        </p:grpSpPr>
        <p:sp>
          <p:nvSpPr>
            <p:cNvPr id="440" name="Google Shape;440;p41"/>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nvGrpSpPr>
            <p:cNvPr id="441" name="Google Shape;441;p41"/>
            <p:cNvGrpSpPr/>
            <p:nvPr/>
          </p:nvGrpSpPr>
          <p:grpSpPr>
            <a:xfrm>
              <a:off x="362088" y="2093825"/>
              <a:ext cx="205200" cy="102600"/>
              <a:chOff x="498725" y="2069800"/>
              <a:chExt cx="205200" cy="102600"/>
            </a:xfrm>
          </p:grpSpPr>
          <p:cxnSp>
            <p:nvCxnSpPr>
              <p:cNvPr id="442" name="Google Shape;442;p41"/>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41"/>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444" name="Google Shape;444;p41"/>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b="1" lang="en">
                <a:solidFill>
                  <a:schemeClr val="lt1"/>
                </a:solidFill>
                <a:latin typeface="Urbanist"/>
                <a:ea typeface="Urbanist"/>
                <a:cs typeface="Urbanist"/>
                <a:sym typeface="Urbanist"/>
              </a:rPr>
              <a:t>Spaceship Titanic</a:t>
            </a:r>
            <a:endParaRPr>
              <a:solidFill>
                <a:schemeClr val="lt1"/>
              </a:solidFill>
            </a:endParaRPr>
          </a:p>
        </p:txBody>
      </p:sp>
      <p:sp>
        <p:nvSpPr>
          <p:cNvPr id="445" name="Google Shape;445;p41"/>
          <p:cNvSpPr txBox="1"/>
          <p:nvPr>
            <p:ph idx="1" type="subTitle"/>
          </p:nvPr>
        </p:nvSpPr>
        <p:spPr>
          <a:xfrm>
            <a:off x="217375" y="109847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130000"/>
              </a:lnSpc>
              <a:spcBef>
                <a:spcPts val="0"/>
              </a:spcBef>
              <a:spcAft>
                <a:spcPts val="0"/>
              </a:spcAft>
              <a:buNone/>
            </a:pPr>
            <a:r>
              <a:rPr lang="en">
                <a:solidFill>
                  <a:schemeClr val="lt1"/>
                </a:solidFill>
              </a:rPr>
              <a:t>Project Report</a:t>
            </a:r>
            <a:endParaRPr>
              <a:solidFill>
                <a:schemeClr val="lt1"/>
              </a:solidFill>
              <a:latin typeface="Urbanist Medium"/>
              <a:ea typeface="Urbanist Medium"/>
              <a:cs typeface="Urbanist Medium"/>
              <a:sym typeface="Urbanist Medium"/>
            </a:endParaRPr>
          </a:p>
        </p:txBody>
      </p:sp>
      <p:sp>
        <p:nvSpPr>
          <p:cNvPr id="446" name="Google Shape;446;p41"/>
          <p:cNvSpPr txBox="1"/>
          <p:nvPr>
            <p:ph idx="5" type="subTitle"/>
          </p:nvPr>
        </p:nvSpPr>
        <p:spPr>
          <a:xfrm>
            <a:off x="297075" y="4175900"/>
            <a:ext cx="2032800" cy="228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a:t>Arman Mahmoodzadeh</a:t>
            </a:r>
            <a:endParaRPr/>
          </a:p>
        </p:txBody>
      </p:sp>
      <p:sp>
        <p:nvSpPr>
          <p:cNvPr id="447" name="Google Shape;447;p41"/>
          <p:cNvSpPr txBox="1"/>
          <p:nvPr>
            <p:ph idx="6" type="subTitle"/>
          </p:nvPr>
        </p:nvSpPr>
        <p:spPr>
          <a:xfrm>
            <a:off x="2180525" y="4175900"/>
            <a:ext cx="1065000" cy="228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a:t>Daniel Herrera</a:t>
            </a:r>
            <a:endParaRPr/>
          </a:p>
        </p:txBody>
      </p:sp>
      <p:sp>
        <p:nvSpPr>
          <p:cNvPr id="448" name="Google Shape;448;p41"/>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Presented by</a:t>
            </a:r>
            <a:endParaRPr/>
          </a:p>
        </p:txBody>
      </p:sp>
      <p:sp>
        <p:nvSpPr>
          <p:cNvPr id="449" name="Google Shape;449;p41"/>
          <p:cNvSpPr/>
          <p:nvPr/>
        </p:nvSpPr>
        <p:spPr>
          <a:xfrm>
            <a:off x="3358450"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sp>
        <p:nvSpPr>
          <p:cNvPr id="450" name="Google Shape;450;p41"/>
          <p:cNvSpPr txBox="1"/>
          <p:nvPr>
            <p:ph idx="6" type="subTitle"/>
          </p:nvPr>
        </p:nvSpPr>
        <p:spPr>
          <a:xfrm>
            <a:off x="3459275" y="4175900"/>
            <a:ext cx="1264800" cy="228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a:t>Jose Mateo Ayala</a:t>
            </a:r>
            <a:endParaRPr/>
          </a:p>
        </p:txBody>
      </p:sp>
      <p:sp>
        <p:nvSpPr>
          <p:cNvPr id="451" name="Google Shape;451;p41"/>
          <p:cNvSpPr/>
          <p:nvPr/>
        </p:nvSpPr>
        <p:spPr>
          <a:xfrm>
            <a:off x="4870575" y="4113375"/>
            <a:ext cx="20328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sp>
        <p:nvSpPr>
          <p:cNvPr id="452" name="Google Shape;452;p41"/>
          <p:cNvSpPr txBox="1"/>
          <p:nvPr>
            <p:ph idx="6" type="subTitle"/>
          </p:nvPr>
        </p:nvSpPr>
        <p:spPr>
          <a:xfrm>
            <a:off x="4937775" y="4175900"/>
            <a:ext cx="1969500" cy="228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a:t>Leonardo Granados-Castillo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2"/>
          <p:cNvSpPr/>
          <p:nvPr/>
        </p:nvSpPr>
        <p:spPr>
          <a:xfrm>
            <a:off x="4618950" y="22860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8" name="Google Shape;458;p42"/>
          <p:cNvSpPr/>
          <p:nvPr/>
        </p:nvSpPr>
        <p:spPr>
          <a:xfrm>
            <a:off x="4618950" y="9063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9" name="Google Shape;459;p42"/>
          <p:cNvSpPr/>
          <p:nvPr/>
        </p:nvSpPr>
        <p:spPr>
          <a:xfrm>
            <a:off x="4618950" y="15841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0" name="Google Shape;460;p42"/>
          <p:cNvSpPr/>
          <p:nvPr/>
        </p:nvSpPr>
        <p:spPr>
          <a:xfrm>
            <a:off x="4618950" y="226195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1" name="Google Shape;461;p42"/>
          <p:cNvSpPr/>
          <p:nvPr/>
        </p:nvSpPr>
        <p:spPr>
          <a:xfrm>
            <a:off x="4618950" y="2939750"/>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2" name="Google Shape;462;p42"/>
          <p:cNvSpPr/>
          <p:nvPr/>
        </p:nvSpPr>
        <p:spPr>
          <a:xfrm>
            <a:off x="4618950" y="3617525"/>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463" name="Google Shape;463;p42"/>
          <p:cNvGrpSpPr/>
          <p:nvPr/>
        </p:nvGrpSpPr>
        <p:grpSpPr>
          <a:xfrm rot="-5400000">
            <a:off x="8556505" y="430775"/>
            <a:ext cx="204654" cy="204654"/>
            <a:chOff x="259788" y="1923155"/>
            <a:chExt cx="409800" cy="409800"/>
          </a:xfrm>
        </p:grpSpPr>
        <p:sp>
          <p:nvSpPr>
            <p:cNvPr id="464" name="Google Shape;464;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65" name="Google Shape;465;p42"/>
            <p:cNvGrpSpPr/>
            <p:nvPr/>
          </p:nvGrpSpPr>
          <p:grpSpPr>
            <a:xfrm>
              <a:off x="362088" y="2093825"/>
              <a:ext cx="205200" cy="102600"/>
              <a:chOff x="498725" y="2069800"/>
              <a:chExt cx="205200" cy="102600"/>
            </a:xfrm>
          </p:grpSpPr>
          <p:cxnSp>
            <p:nvCxnSpPr>
              <p:cNvPr id="466" name="Google Shape;466;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68" name="Google Shape;468;p42"/>
          <p:cNvGrpSpPr/>
          <p:nvPr/>
        </p:nvGrpSpPr>
        <p:grpSpPr>
          <a:xfrm rot="-5400000">
            <a:off x="8556505" y="1108560"/>
            <a:ext cx="204654" cy="204654"/>
            <a:chOff x="259788" y="1923155"/>
            <a:chExt cx="409800" cy="409800"/>
          </a:xfrm>
        </p:grpSpPr>
        <p:sp>
          <p:nvSpPr>
            <p:cNvPr id="469" name="Google Shape;469;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70" name="Google Shape;470;p42"/>
            <p:cNvGrpSpPr/>
            <p:nvPr/>
          </p:nvGrpSpPr>
          <p:grpSpPr>
            <a:xfrm>
              <a:off x="362088" y="2093825"/>
              <a:ext cx="205200" cy="102600"/>
              <a:chOff x="498725" y="2069800"/>
              <a:chExt cx="205200" cy="102600"/>
            </a:xfrm>
          </p:grpSpPr>
          <p:cxnSp>
            <p:nvCxnSpPr>
              <p:cNvPr id="471" name="Google Shape;471;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72" name="Google Shape;472;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73" name="Google Shape;473;p42"/>
          <p:cNvGrpSpPr/>
          <p:nvPr/>
        </p:nvGrpSpPr>
        <p:grpSpPr>
          <a:xfrm rot="-5400000">
            <a:off x="8556505" y="1786345"/>
            <a:ext cx="204654" cy="204654"/>
            <a:chOff x="259788" y="1923155"/>
            <a:chExt cx="409800" cy="409800"/>
          </a:xfrm>
        </p:grpSpPr>
        <p:sp>
          <p:nvSpPr>
            <p:cNvPr id="474" name="Google Shape;474;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75" name="Google Shape;475;p42"/>
            <p:cNvGrpSpPr/>
            <p:nvPr/>
          </p:nvGrpSpPr>
          <p:grpSpPr>
            <a:xfrm>
              <a:off x="362088" y="2093825"/>
              <a:ext cx="205200" cy="102600"/>
              <a:chOff x="498725" y="2069800"/>
              <a:chExt cx="205200" cy="102600"/>
            </a:xfrm>
          </p:grpSpPr>
          <p:cxnSp>
            <p:nvCxnSpPr>
              <p:cNvPr id="476" name="Google Shape;476;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77" name="Google Shape;477;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78" name="Google Shape;478;p42"/>
          <p:cNvGrpSpPr/>
          <p:nvPr/>
        </p:nvGrpSpPr>
        <p:grpSpPr>
          <a:xfrm rot="-5400000">
            <a:off x="8556505" y="2464130"/>
            <a:ext cx="204654" cy="204654"/>
            <a:chOff x="259788" y="1923155"/>
            <a:chExt cx="409800" cy="409800"/>
          </a:xfrm>
        </p:grpSpPr>
        <p:sp>
          <p:nvSpPr>
            <p:cNvPr id="479" name="Google Shape;479;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80" name="Google Shape;480;p42"/>
            <p:cNvGrpSpPr/>
            <p:nvPr/>
          </p:nvGrpSpPr>
          <p:grpSpPr>
            <a:xfrm>
              <a:off x="362088" y="2093825"/>
              <a:ext cx="205200" cy="102600"/>
              <a:chOff x="498725" y="2069800"/>
              <a:chExt cx="205200" cy="102600"/>
            </a:xfrm>
          </p:grpSpPr>
          <p:cxnSp>
            <p:nvCxnSpPr>
              <p:cNvPr id="481" name="Google Shape;481;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82" name="Google Shape;482;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83" name="Google Shape;483;p42"/>
          <p:cNvGrpSpPr/>
          <p:nvPr/>
        </p:nvGrpSpPr>
        <p:grpSpPr>
          <a:xfrm rot="-5400000">
            <a:off x="8556505" y="3141915"/>
            <a:ext cx="204654" cy="204654"/>
            <a:chOff x="259788" y="1923155"/>
            <a:chExt cx="409800" cy="409800"/>
          </a:xfrm>
        </p:grpSpPr>
        <p:sp>
          <p:nvSpPr>
            <p:cNvPr id="484" name="Google Shape;484;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85" name="Google Shape;485;p42"/>
            <p:cNvGrpSpPr/>
            <p:nvPr/>
          </p:nvGrpSpPr>
          <p:grpSpPr>
            <a:xfrm>
              <a:off x="362088" y="2093825"/>
              <a:ext cx="205200" cy="102600"/>
              <a:chOff x="498725" y="2069800"/>
              <a:chExt cx="205200" cy="102600"/>
            </a:xfrm>
          </p:grpSpPr>
          <p:cxnSp>
            <p:nvCxnSpPr>
              <p:cNvPr id="486" name="Google Shape;486;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87" name="Google Shape;487;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88" name="Google Shape;488;p42"/>
          <p:cNvGrpSpPr/>
          <p:nvPr/>
        </p:nvGrpSpPr>
        <p:grpSpPr>
          <a:xfrm rot="-5400000">
            <a:off x="8556505" y="3819700"/>
            <a:ext cx="204654" cy="204654"/>
            <a:chOff x="259788" y="1923155"/>
            <a:chExt cx="409800" cy="409800"/>
          </a:xfrm>
        </p:grpSpPr>
        <p:sp>
          <p:nvSpPr>
            <p:cNvPr id="489" name="Google Shape;489;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90" name="Google Shape;490;p42"/>
            <p:cNvGrpSpPr/>
            <p:nvPr/>
          </p:nvGrpSpPr>
          <p:grpSpPr>
            <a:xfrm>
              <a:off x="362088" y="2093825"/>
              <a:ext cx="205200" cy="102600"/>
              <a:chOff x="498725" y="2069800"/>
              <a:chExt cx="205200" cy="102600"/>
            </a:xfrm>
          </p:grpSpPr>
          <p:cxnSp>
            <p:nvCxnSpPr>
              <p:cNvPr id="491" name="Google Shape;491;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92" name="Google Shape;492;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493" name="Google Shape;493;p42"/>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Content</a:t>
            </a:r>
            <a:endParaRPr/>
          </a:p>
        </p:txBody>
      </p:sp>
      <p:sp>
        <p:nvSpPr>
          <p:cNvPr id="494" name="Google Shape;494;p42"/>
          <p:cNvSpPr txBox="1"/>
          <p:nvPr>
            <p:ph idx="4" type="subTitle"/>
          </p:nvPr>
        </p:nvSpPr>
        <p:spPr>
          <a:xfrm>
            <a:off x="4744575" y="387150"/>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95" name="Google Shape;495;p42"/>
          <p:cNvSpPr txBox="1"/>
          <p:nvPr>
            <p:ph idx="5" type="subTitle"/>
          </p:nvPr>
        </p:nvSpPr>
        <p:spPr>
          <a:xfrm>
            <a:off x="4744575" y="1064088"/>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496" name="Google Shape;496;p42"/>
          <p:cNvSpPr txBox="1"/>
          <p:nvPr>
            <p:ph idx="6" type="subTitle"/>
          </p:nvPr>
        </p:nvSpPr>
        <p:spPr>
          <a:xfrm>
            <a:off x="4744575" y="1741025"/>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497" name="Google Shape;497;p42"/>
          <p:cNvSpPr txBox="1"/>
          <p:nvPr>
            <p:ph idx="7" type="subTitle"/>
          </p:nvPr>
        </p:nvSpPr>
        <p:spPr>
          <a:xfrm>
            <a:off x="4744575" y="24223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498" name="Google Shape;498;p42"/>
          <p:cNvSpPr txBox="1"/>
          <p:nvPr>
            <p:ph idx="8" type="subTitle"/>
          </p:nvPr>
        </p:nvSpPr>
        <p:spPr>
          <a:xfrm>
            <a:off x="4744575" y="30966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499" name="Google Shape;499;p42"/>
          <p:cNvSpPr txBox="1"/>
          <p:nvPr>
            <p:ph idx="9" type="subTitle"/>
          </p:nvPr>
        </p:nvSpPr>
        <p:spPr>
          <a:xfrm>
            <a:off x="4744575" y="3770931"/>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500" name="Google Shape;500;p42"/>
          <p:cNvSpPr txBox="1"/>
          <p:nvPr>
            <p:ph idx="13" type="subTitle"/>
          </p:nvPr>
        </p:nvSpPr>
        <p:spPr>
          <a:xfrm>
            <a:off x="5067075" y="387150"/>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Team Responsibilities</a:t>
            </a:r>
            <a:endParaRPr/>
          </a:p>
        </p:txBody>
      </p:sp>
      <p:sp>
        <p:nvSpPr>
          <p:cNvPr id="501" name="Google Shape;501;p42"/>
          <p:cNvSpPr txBox="1"/>
          <p:nvPr>
            <p:ph idx="14" type="subTitle"/>
          </p:nvPr>
        </p:nvSpPr>
        <p:spPr>
          <a:xfrm>
            <a:off x="5067075" y="1064088"/>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Project Description</a:t>
            </a:r>
            <a:endParaRPr/>
          </a:p>
        </p:txBody>
      </p:sp>
      <p:sp>
        <p:nvSpPr>
          <p:cNvPr id="502" name="Google Shape;502;p42"/>
          <p:cNvSpPr txBox="1"/>
          <p:nvPr>
            <p:ph idx="15" type="subTitle"/>
          </p:nvPr>
        </p:nvSpPr>
        <p:spPr>
          <a:xfrm>
            <a:off x="5067075" y="1741025"/>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Dataset Description</a:t>
            </a:r>
            <a:endParaRPr/>
          </a:p>
        </p:txBody>
      </p:sp>
      <p:sp>
        <p:nvSpPr>
          <p:cNvPr id="503" name="Google Shape;503;p42"/>
          <p:cNvSpPr txBox="1"/>
          <p:nvPr>
            <p:ph idx="16" type="subTitle"/>
          </p:nvPr>
        </p:nvSpPr>
        <p:spPr>
          <a:xfrm>
            <a:off x="5067075" y="24223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Tools and Environment</a:t>
            </a:r>
            <a:endParaRPr/>
          </a:p>
        </p:txBody>
      </p:sp>
      <p:sp>
        <p:nvSpPr>
          <p:cNvPr id="504" name="Google Shape;504;p42"/>
          <p:cNvSpPr txBox="1"/>
          <p:nvPr>
            <p:ph idx="17" type="subTitle"/>
          </p:nvPr>
        </p:nvSpPr>
        <p:spPr>
          <a:xfrm>
            <a:off x="5067075" y="30966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Methods, Algorithms, Model Performance Comparison</a:t>
            </a:r>
            <a:endParaRPr/>
          </a:p>
        </p:txBody>
      </p:sp>
      <p:sp>
        <p:nvSpPr>
          <p:cNvPr id="505" name="Google Shape;505;p42"/>
          <p:cNvSpPr txBox="1"/>
          <p:nvPr>
            <p:ph idx="18" type="subTitle"/>
          </p:nvPr>
        </p:nvSpPr>
        <p:spPr>
          <a:xfrm>
            <a:off x="5067075" y="3770931"/>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Final Results &amp; Conclusions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3"/>
          <p:cNvSpPr txBox="1"/>
          <p:nvPr>
            <p:ph type="title"/>
          </p:nvPr>
        </p:nvSpPr>
        <p:spPr>
          <a:xfrm>
            <a:off x="228600" y="133625"/>
            <a:ext cx="3904500" cy="981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Team Responsibilities</a:t>
            </a:r>
            <a:endParaRPr/>
          </a:p>
        </p:txBody>
      </p:sp>
      <p:sp>
        <p:nvSpPr>
          <p:cNvPr id="511" name="Google Shape;511;p43"/>
          <p:cNvSpPr txBox="1"/>
          <p:nvPr>
            <p:ph idx="6" type="subTitle"/>
          </p:nvPr>
        </p:nvSpPr>
        <p:spPr>
          <a:xfrm>
            <a:off x="228600" y="1348035"/>
            <a:ext cx="1370400" cy="1719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Team Lead</a:t>
            </a:r>
            <a:endParaRPr/>
          </a:p>
        </p:txBody>
      </p:sp>
      <p:sp>
        <p:nvSpPr>
          <p:cNvPr id="512" name="Google Shape;512;p43"/>
          <p:cNvSpPr txBox="1"/>
          <p:nvPr>
            <p:ph idx="8" type="subTitle"/>
          </p:nvPr>
        </p:nvSpPr>
        <p:spPr>
          <a:xfrm>
            <a:off x="228600" y="1559171"/>
            <a:ext cx="1370400" cy="1719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Arman and Daniel</a:t>
            </a:r>
            <a:endParaRPr/>
          </a:p>
        </p:txBody>
      </p:sp>
      <p:sp>
        <p:nvSpPr>
          <p:cNvPr id="513" name="Google Shape;513;p43"/>
          <p:cNvSpPr txBox="1"/>
          <p:nvPr>
            <p:ph idx="9" type="subTitle"/>
          </p:nvPr>
        </p:nvSpPr>
        <p:spPr>
          <a:xfrm>
            <a:off x="228600" y="1752425"/>
            <a:ext cx="2741400" cy="10557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None/>
            </a:pPr>
            <a:r>
              <a:rPr lang="en"/>
              <a:t>Pair A – Logistic Regression Team</a:t>
            </a:r>
            <a:endParaRPr/>
          </a:p>
          <a:p>
            <a:pPr indent="0" lvl="0" marL="0" rtl="0" algn="l">
              <a:lnSpc>
                <a:spcPct val="115000"/>
              </a:lnSpc>
              <a:spcBef>
                <a:spcPts val="1200"/>
              </a:spcBef>
              <a:spcAft>
                <a:spcPts val="0"/>
              </a:spcAft>
              <a:buClr>
                <a:schemeClr val="dk1"/>
              </a:buClr>
              <a:buSzPts val="1100"/>
              <a:buNone/>
            </a:pPr>
            <a:r>
              <a:rPr b="1" lang="en">
                <a:latin typeface="Urbanist"/>
                <a:ea typeface="Urbanist"/>
                <a:cs typeface="Urbanist"/>
                <a:sym typeface="Urbanist"/>
              </a:rPr>
              <a:t>Responsibilities:</a:t>
            </a:r>
            <a:endParaRPr b="1">
              <a:latin typeface="Urbanist"/>
              <a:ea typeface="Urbanist"/>
              <a:cs typeface="Urbanist"/>
              <a:sym typeface="Urbanist"/>
            </a:endParaRPr>
          </a:p>
          <a:p>
            <a:pPr indent="-292100" lvl="0" marL="457200" rtl="0" algn="l">
              <a:lnSpc>
                <a:spcPct val="115000"/>
              </a:lnSpc>
              <a:spcBef>
                <a:spcPts val="1200"/>
              </a:spcBef>
              <a:spcAft>
                <a:spcPts val="0"/>
              </a:spcAft>
              <a:buClr>
                <a:schemeClr val="lt1"/>
              </a:buClr>
              <a:buSzPts val="1000"/>
              <a:buFont typeface="Urbanist"/>
              <a:buChar char="●"/>
            </a:pPr>
            <a:r>
              <a:rPr lang="en">
                <a:latin typeface="Urbanist"/>
                <a:ea typeface="Urbanist"/>
                <a:cs typeface="Urbanist"/>
                <a:sym typeface="Urbanist"/>
              </a:rPr>
              <a:t>Conduct preprocessing and encode categorical variables</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Scale numerical features</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Build baseline Logistic Regression model</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Tune hyperparameters</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Analyze model coefficients</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Ge</a:t>
            </a:r>
            <a:r>
              <a:rPr lang="en">
                <a:latin typeface="Urbanist"/>
                <a:ea typeface="Urbanist"/>
                <a:cs typeface="Urbanist"/>
                <a:sym typeface="Urbanist"/>
              </a:rPr>
              <a:t>nerate </a:t>
            </a:r>
            <a:r>
              <a:rPr lang="en">
                <a:latin typeface="Urbanist"/>
                <a:ea typeface="Urbanist"/>
                <a:cs typeface="Urbanist"/>
                <a:sym typeface="Urbanist"/>
              </a:rPr>
              <a:t>ROC curve and AUC score</a:t>
            </a:r>
            <a:endParaRPr/>
          </a:p>
          <a:p>
            <a:pPr indent="0" lvl="0" marL="0" rtl="0" algn="l">
              <a:spcBef>
                <a:spcPts val="1200"/>
              </a:spcBef>
              <a:spcAft>
                <a:spcPts val="0"/>
              </a:spcAft>
              <a:buClr>
                <a:schemeClr val="dk1"/>
              </a:buClr>
              <a:buSzPts val="1100"/>
              <a:buNone/>
            </a:pPr>
            <a:r>
              <a:t/>
            </a:r>
            <a:endParaRPr/>
          </a:p>
        </p:txBody>
      </p:sp>
      <p:sp>
        <p:nvSpPr>
          <p:cNvPr id="514" name="Google Shape;514;p43"/>
          <p:cNvSpPr txBox="1"/>
          <p:nvPr>
            <p:ph idx="14" type="subTitle"/>
          </p:nvPr>
        </p:nvSpPr>
        <p:spPr>
          <a:xfrm>
            <a:off x="6540600" y="5476871"/>
            <a:ext cx="1370400" cy="171900"/>
          </a:xfrm>
          <a:prstGeom prst="rect">
            <a:avLst/>
          </a:prstGeom>
        </p:spPr>
        <p:txBody>
          <a:bodyPr anchorCtr="0" anchor="b" bIns="0" lIns="0" spcFirstLastPara="1" rIns="91425" wrap="square" tIns="0">
            <a:noAutofit/>
          </a:bodyPr>
          <a:lstStyle/>
          <a:p>
            <a:pPr indent="0" lvl="0" marL="0" rtl="0" algn="l">
              <a:spcBef>
                <a:spcPts val="0"/>
              </a:spcBef>
              <a:spcAft>
                <a:spcPts val="0"/>
              </a:spcAft>
              <a:buClr>
                <a:schemeClr val="dk1"/>
              </a:buClr>
              <a:buSzPts val="1100"/>
              <a:buNone/>
            </a:pPr>
            <a:r>
              <a:rPr lang="en"/>
              <a:t>Full Name</a:t>
            </a:r>
            <a:endParaRPr/>
          </a:p>
        </p:txBody>
      </p:sp>
      <p:sp>
        <p:nvSpPr>
          <p:cNvPr id="515" name="Google Shape;515;p43"/>
          <p:cNvSpPr txBox="1"/>
          <p:nvPr>
            <p:ph idx="15" type="subTitle"/>
          </p:nvPr>
        </p:nvSpPr>
        <p:spPr>
          <a:xfrm>
            <a:off x="6540600" y="5654710"/>
            <a:ext cx="1370400" cy="1719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None/>
            </a:pPr>
            <a:r>
              <a:rPr lang="en"/>
              <a:t>Title</a:t>
            </a:r>
            <a:endParaRPr/>
          </a:p>
        </p:txBody>
      </p:sp>
      <p:sp>
        <p:nvSpPr>
          <p:cNvPr id="516" name="Google Shape;516;p43"/>
          <p:cNvSpPr txBox="1"/>
          <p:nvPr>
            <p:ph idx="17" type="subTitle"/>
          </p:nvPr>
        </p:nvSpPr>
        <p:spPr>
          <a:xfrm>
            <a:off x="6540600" y="5929659"/>
            <a:ext cx="1370400" cy="171900"/>
          </a:xfrm>
          <a:prstGeom prst="rect">
            <a:avLst/>
          </a:prstGeom>
        </p:spPr>
        <p:txBody>
          <a:bodyPr anchorCtr="0" anchor="b" bIns="0" lIns="0" spcFirstLastPara="1" rIns="91425" wrap="square" tIns="0">
            <a:noAutofit/>
          </a:bodyPr>
          <a:lstStyle/>
          <a:p>
            <a:pPr indent="0" lvl="0" marL="0" rtl="0" algn="l">
              <a:spcBef>
                <a:spcPts val="0"/>
              </a:spcBef>
              <a:spcAft>
                <a:spcPts val="0"/>
              </a:spcAft>
              <a:buClr>
                <a:schemeClr val="dk1"/>
              </a:buClr>
              <a:buSzPts val="1100"/>
              <a:buNone/>
            </a:pPr>
            <a:r>
              <a:rPr lang="en"/>
              <a:t>Full Name</a:t>
            </a:r>
            <a:endParaRPr/>
          </a:p>
        </p:txBody>
      </p:sp>
      <p:sp>
        <p:nvSpPr>
          <p:cNvPr id="517" name="Google Shape;517;p43"/>
          <p:cNvSpPr txBox="1"/>
          <p:nvPr>
            <p:ph idx="18" type="subTitle"/>
          </p:nvPr>
        </p:nvSpPr>
        <p:spPr>
          <a:xfrm>
            <a:off x="6540600" y="6107498"/>
            <a:ext cx="1370400" cy="1719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None/>
            </a:pPr>
            <a:r>
              <a:rPr lang="en">
                <a:solidFill>
                  <a:schemeClr val="dk2"/>
                </a:solidFill>
              </a:rPr>
              <a:t>Title</a:t>
            </a:r>
            <a:endParaRPr>
              <a:solidFill>
                <a:schemeClr val="dk2"/>
              </a:solidFill>
            </a:endParaRPr>
          </a:p>
        </p:txBody>
      </p:sp>
      <p:sp>
        <p:nvSpPr>
          <p:cNvPr id="518" name="Google Shape;518;p43"/>
          <p:cNvSpPr txBox="1"/>
          <p:nvPr>
            <p:ph idx="20" type="subTitle"/>
          </p:nvPr>
        </p:nvSpPr>
        <p:spPr>
          <a:xfrm>
            <a:off x="6540600" y="6382459"/>
            <a:ext cx="1370400" cy="171900"/>
          </a:xfrm>
          <a:prstGeom prst="rect">
            <a:avLst/>
          </a:prstGeom>
        </p:spPr>
        <p:txBody>
          <a:bodyPr anchorCtr="0" anchor="b" bIns="0" lIns="0" spcFirstLastPara="1" rIns="91425" wrap="square" tIns="0">
            <a:noAutofit/>
          </a:bodyPr>
          <a:lstStyle/>
          <a:p>
            <a:pPr indent="0" lvl="0" marL="0" rtl="0" algn="l">
              <a:spcBef>
                <a:spcPts val="0"/>
              </a:spcBef>
              <a:spcAft>
                <a:spcPts val="0"/>
              </a:spcAft>
              <a:buClr>
                <a:schemeClr val="dk1"/>
              </a:buClr>
              <a:buSzPts val="1100"/>
              <a:buNone/>
            </a:pPr>
            <a:r>
              <a:rPr lang="en"/>
              <a:t>Full Name</a:t>
            </a:r>
            <a:endParaRPr/>
          </a:p>
        </p:txBody>
      </p:sp>
      <p:sp>
        <p:nvSpPr>
          <p:cNvPr id="519" name="Google Shape;519;p43"/>
          <p:cNvSpPr txBox="1"/>
          <p:nvPr>
            <p:ph idx="21" type="subTitle"/>
          </p:nvPr>
        </p:nvSpPr>
        <p:spPr>
          <a:xfrm>
            <a:off x="6540600" y="6560298"/>
            <a:ext cx="1370400" cy="1719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None/>
            </a:pPr>
            <a:r>
              <a:rPr lang="en"/>
              <a:t>Title</a:t>
            </a:r>
            <a:endParaRPr/>
          </a:p>
        </p:txBody>
      </p:sp>
      <p:sp>
        <p:nvSpPr>
          <p:cNvPr id="520" name="Google Shape;520;p43"/>
          <p:cNvSpPr txBox="1"/>
          <p:nvPr>
            <p:ph idx="23" type="subTitle"/>
          </p:nvPr>
        </p:nvSpPr>
        <p:spPr>
          <a:xfrm>
            <a:off x="4618950" y="5976621"/>
            <a:ext cx="1370400" cy="171900"/>
          </a:xfrm>
          <a:prstGeom prst="rect">
            <a:avLst/>
          </a:prstGeom>
        </p:spPr>
        <p:txBody>
          <a:bodyPr anchorCtr="0" anchor="b" bIns="0" lIns="0" spcFirstLastPara="1" rIns="91425" wrap="square" tIns="0">
            <a:noAutofit/>
          </a:bodyPr>
          <a:lstStyle/>
          <a:p>
            <a:pPr indent="0" lvl="0" marL="0" rtl="0" algn="l">
              <a:spcBef>
                <a:spcPts val="0"/>
              </a:spcBef>
              <a:spcAft>
                <a:spcPts val="0"/>
              </a:spcAft>
              <a:buClr>
                <a:schemeClr val="dk1"/>
              </a:buClr>
              <a:buSzPts val="1100"/>
              <a:buNone/>
            </a:pPr>
            <a:r>
              <a:rPr lang="en"/>
              <a:t>Full Name</a:t>
            </a:r>
            <a:endParaRPr/>
          </a:p>
        </p:txBody>
      </p:sp>
      <p:sp>
        <p:nvSpPr>
          <p:cNvPr id="521" name="Google Shape;521;p43"/>
          <p:cNvSpPr txBox="1"/>
          <p:nvPr>
            <p:ph idx="24" type="subTitle"/>
          </p:nvPr>
        </p:nvSpPr>
        <p:spPr>
          <a:xfrm>
            <a:off x="4618950" y="6154460"/>
            <a:ext cx="1370400" cy="1719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None/>
            </a:pPr>
            <a:r>
              <a:rPr lang="en"/>
              <a:t>Title</a:t>
            </a:r>
            <a:endParaRPr/>
          </a:p>
        </p:txBody>
      </p:sp>
      <p:sp>
        <p:nvSpPr>
          <p:cNvPr id="522" name="Google Shape;522;p43"/>
          <p:cNvSpPr txBox="1"/>
          <p:nvPr>
            <p:ph idx="8" type="subTitle"/>
          </p:nvPr>
        </p:nvSpPr>
        <p:spPr>
          <a:xfrm>
            <a:off x="228600" y="1170197"/>
            <a:ext cx="1370400" cy="1719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Arman</a:t>
            </a:r>
            <a:endParaRPr/>
          </a:p>
        </p:txBody>
      </p:sp>
      <p:sp>
        <p:nvSpPr>
          <p:cNvPr id="523" name="Google Shape;523;p43"/>
          <p:cNvSpPr txBox="1"/>
          <p:nvPr>
            <p:ph idx="8" type="subTitle"/>
          </p:nvPr>
        </p:nvSpPr>
        <p:spPr>
          <a:xfrm>
            <a:off x="3248250" y="1425596"/>
            <a:ext cx="1370400" cy="1719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Leo and Jose</a:t>
            </a:r>
            <a:endParaRPr/>
          </a:p>
        </p:txBody>
      </p:sp>
      <p:sp>
        <p:nvSpPr>
          <p:cNvPr id="524" name="Google Shape;524;p43"/>
          <p:cNvSpPr txBox="1"/>
          <p:nvPr>
            <p:ph idx="9" type="subTitle"/>
          </p:nvPr>
        </p:nvSpPr>
        <p:spPr>
          <a:xfrm>
            <a:off x="3248250" y="1618850"/>
            <a:ext cx="2741400" cy="10557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None/>
            </a:pPr>
            <a:r>
              <a:rPr lang="en"/>
              <a:t>Pair B – Decision Tree Team</a:t>
            </a:r>
            <a:endParaRPr/>
          </a:p>
          <a:p>
            <a:pPr indent="0" lvl="0" marL="0" rtl="0" algn="l">
              <a:lnSpc>
                <a:spcPct val="115000"/>
              </a:lnSpc>
              <a:spcBef>
                <a:spcPts val="1200"/>
              </a:spcBef>
              <a:spcAft>
                <a:spcPts val="0"/>
              </a:spcAft>
              <a:buNone/>
            </a:pPr>
            <a:r>
              <a:rPr b="1" lang="en">
                <a:latin typeface="Urbanist"/>
                <a:ea typeface="Urbanist"/>
                <a:cs typeface="Urbanist"/>
                <a:sym typeface="Urbanist"/>
              </a:rPr>
              <a:t>Responsibilities:</a:t>
            </a:r>
            <a:endParaRPr b="1">
              <a:latin typeface="Urbanist"/>
              <a:ea typeface="Urbanist"/>
              <a:cs typeface="Urbanist"/>
              <a:sym typeface="Urbanist"/>
            </a:endParaRPr>
          </a:p>
          <a:p>
            <a:pPr indent="-292100" lvl="0" marL="457200" rtl="0" algn="l">
              <a:lnSpc>
                <a:spcPct val="115000"/>
              </a:lnSpc>
              <a:spcBef>
                <a:spcPts val="1200"/>
              </a:spcBef>
              <a:spcAft>
                <a:spcPts val="0"/>
              </a:spcAft>
              <a:buClr>
                <a:schemeClr val="lt1"/>
              </a:buClr>
              <a:buSzPts val="1000"/>
              <a:buFont typeface="Urbanist"/>
              <a:buChar char="●"/>
            </a:pPr>
            <a:r>
              <a:rPr lang="en">
                <a:latin typeface="Urbanist"/>
                <a:ea typeface="Urbanist"/>
                <a:cs typeface="Urbanist"/>
                <a:sym typeface="Urbanist"/>
              </a:rPr>
              <a:t>Prepare tree-friendly data (label encoding, missing-value strategies)</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Train and tune Decision Tree models of different depths</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Visualize tree structure</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Analyze patterns in top-level splits</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Evaluate performance with accuracy, ROC, and AUC</a:t>
            </a:r>
            <a:endParaRPr>
              <a:latin typeface="Urbanist"/>
              <a:ea typeface="Urbanist"/>
              <a:cs typeface="Urbanist"/>
              <a:sym typeface="Urbanist"/>
            </a:endParaRPr>
          </a:p>
          <a:p>
            <a:pPr indent="0" lvl="0" marL="0" rtl="0" algn="l">
              <a:spcBef>
                <a:spcPts val="1200"/>
              </a:spcBef>
              <a:spcAft>
                <a:spcPts val="0"/>
              </a:spcAft>
              <a:buClr>
                <a:schemeClr val="dk1"/>
              </a:buClr>
              <a:buSzPts val="1100"/>
              <a:buNone/>
            </a:pPr>
            <a:r>
              <a:t/>
            </a:r>
            <a:endParaRPr/>
          </a:p>
        </p:txBody>
      </p:sp>
      <p:sp>
        <p:nvSpPr>
          <p:cNvPr id="525" name="Google Shape;525;p43"/>
          <p:cNvSpPr txBox="1"/>
          <p:nvPr>
            <p:ph idx="8" type="subTitle"/>
          </p:nvPr>
        </p:nvSpPr>
        <p:spPr>
          <a:xfrm>
            <a:off x="6267900" y="804100"/>
            <a:ext cx="2647500" cy="3807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All Four Members – Random Forest Model</a:t>
            </a:r>
            <a:endParaRPr/>
          </a:p>
        </p:txBody>
      </p:sp>
      <p:sp>
        <p:nvSpPr>
          <p:cNvPr id="526" name="Google Shape;526;p43"/>
          <p:cNvSpPr txBox="1"/>
          <p:nvPr>
            <p:ph idx="9" type="subTitle"/>
          </p:nvPr>
        </p:nvSpPr>
        <p:spPr>
          <a:xfrm>
            <a:off x="6267900" y="1184800"/>
            <a:ext cx="2741400" cy="1055700"/>
          </a:xfrm>
          <a:prstGeom prst="rect">
            <a:avLst/>
          </a:prstGeom>
        </p:spPr>
        <p:txBody>
          <a:bodyPr anchorCtr="0" anchor="t" bIns="91425" lIns="0" spcFirstLastPara="1" rIns="91425" wrap="square" tIns="0">
            <a:noAutofit/>
          </a:bodyPr>
          <a:lstStyle/>
          <a:p>
            <a:pPr indent="0" lvl="0" marL="0" rtl="0" algn="l">
              <a:lnSpc>
                <a:spcPct val="115000"/>
              </a:lnSpc>
              <a:spcBef>
                <a:spcPts val="1200"/>
              </a:spcBef>
              <a:spcAft>
                <a:spcPts val="0"/>
              </a:spcAft>
              <a:buNone/>
            </a:pPr>
            <a:r>
              <a:rPr b="1" lang="en">
                <a:latin typeface="Urbanist"/>
                <a:ea typeface="Urbanist"/>
                <a:cs typeface="Urbanist"/>
                <a:sym typeface="Urbanist"/>
              </a:rPr>
              <a:t>Responsibilities:</a:t>
            </a:r>
            <a:endParaRPr b="1">
              <a:latin typeface="Urbanist"/>
              <a:ea typeface="Urbanist"/>
              <a:cs typeface="Urbanist"/>
              <a:sym typeface="Urbanist"/>
            </a:endParaRPr>
          </a:p>
          <a:p>
            <a:pPr indent="-292100" lvl="0" marL="457200" rtl="0" algn="l">
              <a:lnSpc>
                <a:spcPct val="115000"/>
              </a:lnSpc>
              <a:spcBef>
                <a:spcPts val="1200"/>
              </a:spcBef>
              <a:spcAft>
                <a:spcPts val="0"/>
              </a:spcAft>
              <a:buClr>
                <a:schemeClr val="lt1"/>
              </a:buClr>
              <a:buSzPts val="1000"/>
              <a:buFont typeface="Urbanist"/>
              <a:buChar char="●"/>
            </a:pPr>
            <a:r>
              <a:rPr lang="en">
                <a:latin typeface="Urbanist"/>
                <a:ea typeface="Urbanist"/>
                <a:cs typeface="Urbanist"/>
                <a:sym typeface="Urbanist"/>
              </a:rPr>
              <a:t>Integrate best feature-engineered datasets from both teams</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Train and tune Random Forest ensemble</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Conduct hyperparameter search (n_estimators, max_depth, etc.)</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Analyze feature importance</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Compare performance with baseline models</a:t>
            </a:r>
            <a:br>
              <a:rPr lang="en">
                <a:latin typeface="Urbanist"/>
                <a:ea typeface="Urbanist"/>
                <a:cs typeface="Urbanist"/>
                <a:sym typeface="Urbanist"/>
              </a:rPr>
            </a:br>
            <a:endParaRPr>
              <a:latin typeface="Urbanist"/>
              <a:ea typeface="Urbanist"/>
              <a:cs typeface="Urbanist"/>
              <a:sym typeface="Urbanist"/>
            </a:endParaRPr>
          </a:p>
          <a:p>
            <a:pPr indent="-292100" lvl="0" marL="457200" rtl="0" algn="l">
              <a:lnSpc>
                <a:spcPct val="115000"/>
              </a:lnSpc>
              <a:spcBef>
                <a:spcPts val="0"/>
              </a:spcBef>
              <a:spcAft>
                <a:spcPts val="0"/>
              </a:spcAft>
              <a:buClr>
                <a:schemeClr val="lt1"/>
              </a:buClr>
              <a:buSzPts val="1000"/>
              <a:buFont typeface="Urbanist"/>
              <a:buChar char="●"/>
            </a:pPr>
            <a:r>
              <a:rPr lang="en">
                <a:latin typeface="Urbanist"/>
                <a:ea typeface="Urbanist"/>
                <a:cs typeface="Urbanist"/>
                <a:sym typeface="Urbanist"/>
              </a:rPr>
              <a:t>Generate final predictions and interpret results</a:t>
            </a:r>
            <a:endParaRPr b="1">
              <a:latin typeface="Urbanist"/>
              <a:ea typeface="Urbanist"/>
              <a:cs typeface="Urbanist"/>
              <a:sym typeface="Urbanist"/>
            </a:endParaRPr>
          </a:p>
          <a:p>
            <a:pPr indent="0" lvl="0" marL="0" rtl="0" algn="l">
              <a:spcBef>
                <a:spcPts val="1200"/>
              </a:spcBef>
              <a:spcAft>
                <a:spcPts val="0"/>
              </a:spcAft>
              <a:buClr>
                <a:schemeClr val="dk1"/>
              </a:buClr>
              <a:buSzPts val="11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4"/>
          <p:cNvSpPr txBox="1"/>
          <p:nvPr>
            <p:ph type="title"/>
          </p:nvPr>
        </p:nvSpPr>
        <p:spPr>
          <a:xfrm>
            <a:off x="228600" y="290448"/>
            <a:ext cx="3655800" cy="13884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4600"/>
              <a:t>Tools &amp; Environment</a:t>
            </a:r>
            <a:endParaRPr sz="4600"/>
          </a:p>
        </p:txBody>
      </p:sp>
      <p:sp>
        <p:nvSpPr>
          <p:cNvPr id="532" name="Google Shape;532;p44"/>
          <p:cNvSpPr txBox="1"/>
          <p:nvPr>
            <p:ph idx="1" type="subTitle"/>
          </p:nvPr>
        </p:nvSpPr>
        <p:spPr>
          <a:xfrm>
            <a:off x="4465950" y="571500"/>
            <a:ext cx="3926400" cy="3971100"/>
          </a:xfrm>
          <a:prstGeom prst="rect">
            <a:avLst/>
          </a:prstGeom>
        </p:spPr>
        <p:txBody>
          <a:bodyPr anchorCtr="0" anchor="b"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 sz="1100"/>
              <a:t>All analysis and development were completed using:</a:t>
            </a:r>
            <a:endParaRPr sz="1100"/>
          </a:p>
          <a:p>
            <a:pPr indent="-298450" lvl="0" marL="457200" rtl="0" algn="l">
              <a:lnSpc>
                <a:spcPct val="115000"/>
              </a:lnSpc>
              <a:spcBef>
                <a:spcPts val="1200"/>
              </a:spcBef>
              <a:spcAft>
                <a:spcPts val="0"/>
              </a:spcAft>
              <a:buClr>
                <a:schemeClr val="lt1"/>
              </a:buClr>
              <a:buSzPts val="1100"/>
              <a:buFont typeface="Urbanist"/>
              <a:buChar char="●"/>
            </a:pPr>
            <a:r>
              <a:rPr b="1" lang="en" sz="1100"/>
              <a:t>Python 3.x</a:t>
            </a:r>
            <a:br>
              <a:rPr b="1" lang="en" sz="1100"/>
            </a:br>
            <a:endParaRPr b="1" sz="1100"/>
          </a:p>
          <a:p>
            <a:pPr indent="-298450" lvl="0" marL="457200" rtl="0" algn="l">
              <a:lnSpc>
                <a:spcPct val="115000"/>
              </a:lnSpc>
              <a:spcBef>
                <a:spcPts val="0"/>
              </a:spcBef>
              <a:spcAft>
                <a:spcPts val="0"/>
              </a:spcAft>
              <a:buClr>
                <a:schemeClr val="lt1"/>
              </a:buClr>
              <a:buSzPts val="1100"/>
              <a:buFont typeface="Urbanist"/>
              <a:buChar char="●"/>
            </a:pPr>
            <a:r>
              <a:rPr b="1" lang="en" sz="1100"/>
              <a:t>Jupyter Notebook</a:t>
            </a:r>
            <a:br>
              <a:rPr b="1" lang="en" sz="1100"/>
            </a:br>
            <a:endParaRPr b="1" sz="1100"/>
          </a:p>
          <a:p>
            <a:pPr indent="-298450" lvl="0" marL="457200" rtl="0" algn="l">
              <a:lnSpc>
                <a:spcPct val="115000"/>
              </a:lnSpc>
              <a:spcBef>
                <a:spcPts val="0"/>
              </a:spcBef>
              <a:spcAft>
                <a:spcPts val="0"/>
              </a:spcAft>
              <a:buClr>
                <a:schemeClr val="lt1"/>
              </a:buClr>
              <a:buSzPts val="1100"/>
              <a:buFont typeface="Urbanist"/>
              <a:buChar char="●"/>
            </a:pPr>
            <a:r>
              <a:rPr b="1" lang="en" sz="1100"/>
              <a:t>NumPy</a:t>
            </a:r>
            <a:br>
              <a:rPr b="1" lang="en" sz="1100"/>
            </a:br>
            <a:endParaRPr b="1" sz="1100"/>
          </a:p>
          <a:p>
            <a:pPr indent="-298450" lvl="0" marL="457200" rtl="0" algn="l">
              <a:lnSpc>
                <a:spcPct val="115000"/>
              </a:lnSpc>
              <a:spcBef>
                <a:spcPts val="0"/>
              </a:spcBef>
              <a:spcAft>
                <a:spcPts val="0"/>
              </a:spcAft>
              <a:buClr>
                <a:schemeClr val="lt1"/>
              </a:buClr>
              <a:buSzPts val="1100"/>
              <a:buFont typeface="Urbanist"/>
              <a:buChar char="●"/>
            </a:pPr>
            <a:r>
              <a:rPr b="1" lang="en" sz="1100"/>
              <a:t>pandas</a:t>
            </a:r>
            <a:br>
              <a:rPr b="1" lang="en" sz="1100"/>
            </a:br>
            <a:endParaRPr b="1" sz="1100"/>
          </a:p>
          <a:p>
            <a:pPr indent="-298450" lvl="0" marL="457200" rtl="0" algn="l">
              <a:lnSpc>
                <a:spcPct val="115000"/>
              </a:lnSpc>
              <a:spcBef>
                <a:spcPts val="0"/>
              </a:spcBef>
              <a:spcAft>
                <a:spcPts val="0"/>
              </a:spcAft>
              <a:buClr>
                <a:schemeClr val="lt1"/>
              </a:buClr>
              <a:buSzPts val="1100"/>
              <a:buFont typeface="Urbanist"/>
              <a:buChar char="●"/>
            </a:pPr>
            <a:r>
              <a:rPr b="1" lang="en" sz="1100"/>
              <a:t>matplotlib &amp; seaborn</a:t>
            </a:r>
            <a:br>
              <a:rPr b="1" lang="en" sz="1100"/>
            </a:br>
            <a:endParaRPr b="1" sz="1100"/>
          </a:p>
          <a:p>
            <a:pPr indent="-298450" lvl="0" marL="457200" rtl="0" algn="l">
              <a:lnSpc>
                <a:spcPct val="115000"/>
              </a:lnSpc>
              <a:spcBef>
                <a:spcPts val="0"/>
              </a:spcBef>
              <a:spcAft>
                <a:spcPts val="0"/>
              </a:spcAft>
              <a:buClr>
                <a:schemeClr val="lt1"/>
              </a:buClr>
              <a:buSzPts val="1100"/>
              <a:buFont typeface="Urbanist"/>
              <a:buChar char="●"/>
            </a:pPr>
            <a:r>
              <a:rPr b="1" lang="en" sz="1100"/>
              <a:t>scikit-learn (sklearn)</a:t>
            </a:r>
            <a:br>
              <a:rPr b="1" lang="en" sz="1100"/>
            </a:br>
            <a:endParaRPr b="1" sz="1100"/>
          </a:p>
          <a:p>
            <a:pPr indent="-298450" lvl="0" marL="457200" rtl="0" algn="l">
              <a:lnSpc>
                <a:spcPct val="115000"/>
              </a:lnSpc>
              <a:spcBef>
                <a:spcPts val="0"/>
              </a:spcBef>
              <a:spcAft>
                <a:spcPts val="0"/>
              </a:spcAft>
              <a:buClr>
                <a:schemeClr val="lt1"/>
              </a:buClr>
              <a:buSzPts val="1100"/>
              <a:buFont typeface="Arial"/>
              <a:buChar char="●"/>
            </a:pPr>
            <a:r>
              <a:rPr b="1" lang="en" sz="1100"/>
              <a:t>Graphviz</a:t>
            </a:r>
            <a:r>
              <a:rPr lang="en" sz="1100"/>
              <a:t> (Decision Tree visualization)</a:t>
            </a:r>
            <a:endParaRPr/>
          </a:p>
        </p:txBody>
      </p:sp>
      <p:grpSp>
        <p:nvGrpSpPr>
          <p:cNvPr id="533" name="Google Shape;533;p44"/>
          <p:cNvGrpSpPr/>
          <p:nvPr/>
        </p:nvGrpSpPr>
        <p:grpSpPr>
          <a:xfrm rot="5400000">
            <a:off x="4457700" y="1237716"/>
            <a:ext cx="228589" cy="228622"/>
            <a:chOff x="1688332" y="4135245"/>
            <a:chExt cx="338700" cy="338700"/>
          </a:xfrm>
        </p:grpSpPr>
        <p:sp>
          <p:nvSpPr>
            <p:cNvPr id="534" name="Google Shape;534;p44"/>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35" name="Google Shape;535;p44"/>
            <p:cNvGrpSpPr/>
            <p:nvPr/>
          </p:nvGrpSpPr>
          <p:grpSpPr>
            <a:xfrm rot="-5400000">
              <a:off x="1787014" y="4262191"/>
              <a:ext cx="169598" cy="84809"/>
              <a:chOff x="498725" y="2069800"/>
              <a:chExt cx="205200" cy="102600"/>
            </a:xfrm>
          </p:grpSpPr>
          <p:cxnSp>
            <p:nvCxnSpPr>
              <p:cNvPr id="536" name="Google Shape;536;p44"/>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537" name="Google Shape;537;p44"/>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descr="A luminous galaxy in space. " id="542" name="Google Shape;542;p45"/>
          <p:cNvPicPr preferRelativeResize="0"/>
          <p:nvPr/>
        </p:nvPicPr>
        <p:blipFill rotWithShape="1">
          <a:blip r:embed="rId3">
            <a:alphaModFix amt="50000"/>
          </a:blip>
          <a:srcRect b="1961" l="0" r="0" t="6840"/>
          <a:stretch/>
        </p:blipFill>
        <p:spPr>
          <a:xfrm>
            <a:off x="0" y="-3250"/>
            <a:ext cx="9144003" cy="4686976"/>
          </a:xfrm>
          <a:prstGeom prst="rect">
            <a:avLst/>
          </a:prstGeom>
          <a:noFill/>
          <a:ln>
            <a:noFill/>
          </a:ln>
        </p:spPr>
      </p:pic>
      <p:sp>
        <p:nvSpPr>
          <p:cNvPr id="543" name="Google Shape;543;p45"/>
          <p:cNvSpPr txBox="1"/>
          <p:nvPr>
            <p:ph type="title"/>
          </p:nvPr>
        </p:nvSpPr>
        <p:spPr>
          <a:xfrm>
            <a:off x="237750" y="553050"/>
            <a:ext cx="8574600" cy="20187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latin typeface="Urbanist"/>
                <a:ea typeface="Urbanist"/>
                <a:cs typeface="Urbanist"/>
                <a:sym typeface="Urbanist"/>
              </a:rPr>
              <a:t>Our project focuses on predicting whether the passengers on the </a:t>
            </a:r>
            <a:r>
              <a:rPr i="1" lang="en" sz="1200">
                <a:latin typeface="Urbanist"/>
                <a:ea typeface="Urbanist"/>
                <a:cs typeface="Urbanist"/>
                <a:sym typeface="Urbanist"/>
              </a:rPr>
              <a:t>Spaceship Titanic </a:t>
            </a:r>
            <a:r>
              <a:rPr lang="en" sz="1200">
                <a:latin typeface="Urbanist"/>
                <a:ea typeface="Urbanist"/>
                <a:cs typeface="Urbanist"/>
                <a:sym typeface="Urbanist"/>
              </a:rPr>
              <a:t>were transported to another dimension after a spacetime anomaly. Using the Kaggle dataset, our goal is to build a machine-learning model that predicts the “transported” status of each passenger based on various data. We will clean and prepare the data, create useful features, and test different machine-learning models. Overall, our goal is to build an accurate prediction model that can be used reliably. Our goal has been to clean and explore data, understand features, missing values, distributions, and correlations. We wanted to transform raw features into ones that are more useful for modelling and build one or more models. Then, evaluate the model's performance, use it to generate predictions, and learn from the results. </a:t>
            </a:r>
            <a:endParaRPr sz="1200">
              <a:latin typeface="Urbanist"/>
              <a:ea typeface="Urbanist"/>
              <a:cs typeface="Urbanist"/>
              <a:sym typeface="Urbanist"/>
            </a:endParaRPr>
          </a:p>
          <a:p>
            <a:pPr indent="0" lvl="0" marL="0" rtl="0" algn="l">
              <a:lnSpc>
                <a:spcPct val="85000"/>
              </a:lnSpc>
              <a:spcBef>
                <a:spcPts val="0"/>
              </a:spcBef>
              <a:spcAft>
                <a:spcPts val="0"/>
              </a:spcAft>
              <a:buNone/>
            </a:pPr>
            <a:r>
              <a:t/>
            </a:r>
            <a:endParaRPr/>
          </a:p>
        </p:txBody>
      </p:sp>
      <p:sp>
        <p:nvSpPr>
          <p:cNvPr id="544" name="Google Shape;544;p45"/>
          <p:cNvSpPr txBox="1"/>
          <p:nvPr>
            <p:ph idx="1" type="subTitle"/>
          </p:nvPr>
        </p:nvSpPr>
        <p:spPr>
          <a:xfrm>
            <a:off x="235575" y="228600"/>
            <a:ext cx="28701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accent3"/>
                </a:solidFill>
              </a:rPr>
              <a:t>Project Description</a:t>
            </a:r>
            <a:endParaRPr>
              <a:solidFill>
                <a:schemeClr val="accent3"/>
              </a:solidFill>
            </a:endParaRPr>
          </a:p>
        </p:txBody>
      </p:sp>
      <p:sp>
        <p:nvSpPr>
          <p:cNvPr id="545" name="Google Shape;545;p45"/>
          <p:cNvSpPr txBox="1"/>
          <p:nvPr>
            <p:ph type="title"/>
          </p:nvPr>
        </p:nvSpPr>
        <p:spPr>
          <a:xfrm>
            <a:off x="237750" y="3997500"/>
            <a:ext cx="8574600" cy="455100"/>
          </a:xfrm>
          <a:prstGeom prst="rect">
            <a:avLst/>
          </a:prstGeom>
        </p:spPr>
        <p:txBody>
          <a:bodyPr anchorCtr="0" anchor="b" bIns="0" lIns="0" spcFirstLastPara="1" rIns="0" wrap="square" tIns="0">
            <a:noAutofit/>
          </a:bodyPr>
          <a:lstStyle/>
          <a:p>
            <a:pPr indent="0" lvl="0" marL="0" rtl="0" algn="l">
              <a:lnSpc>
                <a:spcPct val="85000"/>
              </a:lnSpc>
              <a:spcBef>
                <a:spcPts val="0"/>
              </a:spcBef>
              <a:spcAft>
                <a:spcPts val="0"/>
              </a:spcAft>
              <a:buNone/>
            </a:pPr>
            <a:r>
              <a:rPr lang="en" sz="1200">
                <a:latin typeface="Urbanist"/>
                <a:ea typeface="Urbanist"/>
                <a:cs typeface="Urbanist"/>
                <a:sym typeface="Urbanist"/>
              </a:rPr>
              <a:t>Each model was trained, tuned, and evaluated, and the final results were compared using accuracy, ROC curves, and AUC metrics. The project concludes by selecting the best-performing model for deployment.</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6"/>
          <p:cNvSpPr/>
          <p:nvPr/>
        </p:nvSpPr>
        <p:spPr>
          <a:xfrm>
            <a:off x="229175" y="500700"/>
            <a:ext cx="8629200" cy="4022100"/>
          </a:xfrm>
          <a:prstGeom prst="roundRect">
            <a:avLst>
              <a:gd fmla="val 76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51" name="Google Shape;551;p46"/>
          <p:cNvSpPr/>
          <p:nvPr/>
        </p:nvSpPr>
        <p:spPr>
          <a:xfrm>
            <a:off x="320625" y="591200"/>
            <a:ext cx="8419500" cy="3888900"/>
          </a:xfrm>
          <a:prstGeom prst="roundRect">
            <a:avLst>
              <a:gd fmla="val 2228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52" name="Google Shape;552;p46"/>
          <p:cNvSpPr txBox="1"/>
          <p:nvPr>
            <p:ph idx="4" type="subTitle"/>
          </p:nvPr>
        </p:nvSpPr>
        <p:spPr>
          <a:xfrm>
            <a:off x="672450" y="615888"/>
            <a:ext cx="7705200" cy="3582300"/>
          </a:xfrm>
          <a:prstGeom prst="rect">
            <a:avLst/>
          </a:prstGeom>
        </p:spPr>
        <p:txBody>
          <a:bodyPr anchorCtr="0" anchor="t" bIns="91425" lIns="0" spcFirstLastPara="1" rIns="91425" wrap="square" tIns="0">
            <a:noAutofit/>
          </a:bodyPr>
          <a:lstStyle/>
          <a:p>
            <a:pPr indent="0" lvl="0" marL="0" rtl="0" algn="l">
              <a:lnSpc>
                <a:spcPct val="115000"/>
              </a:lnSpc>
              <a:spcBef>
                <a:spcPts val="1200"/>
              </a:spcBef>
              <a:spcAft>
                <a:spcPts val="0"/>
              </a:spcAft>
              <a:buClr>
                <a:schemeClr val="dk1"/>
              </a:buClr>
              <a:buSzPts val="1100"/>
              <a:buFont typeface="Arial"/>
              <a:buNone/>
            </a:pPr>
            <a:r>
              <a:rPr lang="en" sz="1100"/>
              <a:t>The Spaceship Titanic dataset is provided by </a:t>
            </a:r>
            <a:r>
              <a:rPr b="1" lang="en" sz="1100"/>
              <a:t>Kaggle</a:t>
            </a:r>
            <a:r>
              <a:rPr lang="en" sz="1100"/>
              <a:t> and includes demographic, travel, and spending information for passengers aboard the ship.</a:t>
            </a:r>
            <a:endParaRPr sz="1100"/>
          </a:p>
          <a:p>
            <a:pPr indent="0" lvl="0" marL="0" rtl="0" algn="l">
              <a:lnSpc>
                <a:spcPct val="115000"/>
              </a:lnSpc>
              <a:spcBef>
                <a:spcPts val="1400"/>
              </a:spcBef>
              <a:spcAft>
                <a:spcPts val="0"/>
              </a:spcAft>
              <a:buClr>
                <a:schemeClr val="dk1"/>
              </a:buClr>
              <a:buSzPts val="1100"/>
              <a:buFont typeface="Arial"/>
              <a:buNone/>
            </a:pPr>
            <a:r>
              <a:rPr b="1" lang="en" sz="1200" u="sng">
                <a:solidFill>
                  <a:schemeClr val="accent3"/>
                </a:solidFill>
              </a:rPr>
              <a:t>Train Dataset</a:t>
            </a:r>
            <a:endParaRPr b="1" sz="1200" u="sng">
              <a:solidFill>
                <a:schemeClr val="accent3"/>
              </a:solidFill>
            </a:endParaRPr>
          </a:p>
          <a:p>
            <a:pPr indent="0" lvl="0" marL="0" rtl="0" algn="l">
              <a:lnSpc>
                <a:spcPct val="115000"/>
              </a:lnSpc>
              <a:spcBef>
                <a:spcPts val="1200"/>
              </a:spcBef>
              <a:spcAft>
                <a:spcPts val="0"/>
              </a:spcAft>
              <a:buClr>
                <a:schemeClr val="dk1"/>
              </a:buClr>
              <a:buSzPts val="1100"/>
              <a:buFont typeface="Arial"/>
              <a:buNone/>
            </a:pPr>
            <a:r>
              <a:rPr lang="en" sz="1100"/>
              <a:t>Contains all features plus the target variable </a:t>
            </a:r>
            <a:r>
              <a:rPr lang="en" sz="1100">
                <a:solidFill>
                  <a:schemeClr val="accent5"/>
                </a:solidFill>
              </a:rPr>
              <a:t>Transported</a:t>
            </a:r>
            <a:r>
              <a:rPr lang="en" sz="1100"/>
              <a:t>.</a:t>
            </a:r>
            <a:endParaRPr sz="1100"/>
          </a:p>
          <a:p>
            <a:pPr indent="0" lvl="0" marL="0" rtl="0" algn="l">
              <a:lnSpc>
                <a:spcPct val="115000"/>
              </a:lnSpc>
              <a:spcBef>
                <a:spcPts val="1400"/>
              </a:spcBef>
              <a:spcAft>
                <a:spcPts val="0"/>
              </a:spcAft>
              <a:buClr>
                <a:schemeClr val="dk1"/>
              </a:buClr>
              <a:buSzPts val="1100"/>
              <a:buFont typeface="Arial"/>
              <a:buNone/>
            </a:pPr>
            <a:r>
              <a:rPr b="1" lang="en" sz="1200" u="sng">
                <a:solidFill>
                  <a:schemeClr val="accent3"/>
                </a:solidFill>
              </a:rPr>
              <a:t>Test Dataset</a:t>
            </a:r>
            <a:endParaRPr b="1" sz="1200" u="sng">
              <a:solidFill>
                <a:schemeClr val="accent3"/>
              </a:solidFill>
            </a:endParaRPr>
          </a:p>
          <a:p>
            <a:pPr indent="0" lvl="0" marL="0" rtl="0" algn="l">
              <a:lnSpc>
                <a:spcPct val="115000"/>
              </a:lnSpc>
              <a:spcBef>
                <a:spcPts val="1200"/>
              </a:spcBef>
              <a:spcAft>
                <a:spcPts val="0"/>
              </a:spcAft>
              <a:buClr>
                <a:schemeClr val="dk1"/>
              </a:buClr>
              <a:buSzPts val="1100"/>
              <a:buFont typeface="Arial"/>
              <a:buNone/>
            </a:pPr>
            <a:r>
              <a:rPr lang="en" sz="1100"/>
              <a:t>Contains all features minus the target label; used to generate model predictions.</a:t>
            </a:r>
            <a:endParaRPr sz="1100"/>
          </a:p>
          <a:p>
            <a:pPr indent="0" lvl="0" marL="0" rtl="0" algn="l">
              <a:lnSpc>
                <a:spcPct val="115000"/>
              </a:lnSpc>
              <a:spcBef>
                <a:spcPts val="1400"/>
              </a:spcBef>
              <a:spcAft>
                <a:spcPts val="0"/>
              </a:spcAft>
              <a:buClr>
                <a:schemeClr val="dk1"/>
              </a:buClr>
              <a:buSzPts val="1100"/>
              <a:buFont typeface="Arial"/>
              <a:buNone/>
            </a:pPr>
            <a:r>
              <a:rPr b="1" lang="en" sz="1200" u="sng">
                <a:solidFill>
                  <a:schemeClr val="accent3"/>
                </a:solidFill>
              </a:rPr>
              <a:t>Target Variable</a:t>
            </a:r>
            <a:endParaRPr b="1" sz="1200" u="sng">
              <a:solidFill>
                <a:schemeClr val="accent3"/>
              </a:solidFill>
            </a:endParaRPr>
          </a:p>
          <a:p>
            <a:pPr indent="-298450" lvl="0" marL="457200" rtl="0" algn="l">
              <a:lnSpc>
                <a:spcPct val="115000"/>
              </a:lnSpc>
              <a:spcBef>
                <a:spcPts val="1200"/>
              </a:spcBef>
              <a:spcAft>
                <a:spcPts val="0"/>
              </a:spcAft>
              <a:buClr>
                <a:schemeClr val="lt1"/>
              </a:buClr>
              <a:buSzPts val="1100"/>
              <a:buFont typeface="Urbanist"/>
              <a:buChar char="●"/>
            </a:pPr>
            <a:r>
              <a:rPr b="1" lang="en" sz="1100"/>
              <a:t>Transported</a:t>
            </a:r>
            <a:br>
              <a:rPr b="1" lang="en" sz="1100"/>
            </a:br>
            <a:endParaRPr b="1" sz="1100"/>
          </a:p>
          <a:p>
            <a:pPr indent="-298450" lvl="1" marL="914400" rtl="0" algn="l">
              <a:lnSpc>
                <a:spcPct val="115000"/>
              </a:lnSpc>
              <a:spcBef>
                <a:spcPts val="0"/>
              </a:spcBef>
              <a:spcAft>
                <a:spcPts val="0"/>
              </a:spcAft>
              <a:buClr>
                <a:schemeClr val="lt1"/>
              </a:buClr>
              <a:buSzPts val="1100"/>
              <a:buFont typeface="Urbanist"/>
              <a:buChar char="○"/>
            </a:pPr>
            <a:r>
              <a:rPr lang="en" sz="1100">
                <a:solidFill>
                  <a:schemeClr val="lt1"/>
                </a:solidFill>
                <a:latin typeface="Urbanist"/>
                <a:ea typeface="Urbanist"/>
                <a:cs typeface="Urbanist"/>
                <a:sym typeface="Urbanist"/>
              </a:rPr>
              <a:t>Boolean value</a:t>
            </a:r>
            <a:br>
              <a:rPr lang="en" sz="1100">
                <a:solidFill>
                  <a:schemeClr val="lt1"/>
                </a:solidFill>
                <a:latin typeface="Urbanist"/>
                <a:ea typeface="Urbanist"/>
                <a:cs typeface="Urbanist"/>
                <a:sym typeface="Urbanist"/>
              </a:rPr>
            </a:br>
            <a:endParaRPr sz="1100">
              <a:solidFill>
                <a:schemeClr val="lt1"/>
              </a:solidFill>
              <a:latin typeface="Urbanist"/>
              <a:ea typeface="Urbanist"/>
              <a:cs typeface="Urbanist"/>
              <a:sym typeface="Urbanist"/>
            </a:endParaRPr>
          </a:p>
          <a:p>
            <a:pPr indent="-298450" lvl="1" marL="914400" rtl="0" algn="l">
              <a:lnSpc>
                <a:spcPct val="115000"/>
              </a:lnSpc>
              <a:spcBef>
                <a:spcPts val="0"/>
              </a:spcBef>
              <a:spcAft>
                <a:spcPts val="0"/>
              </a:spcAft>
              <a:buClr>
                <a:schemeClr val="lt1"/>
              </a:buClr>
              <a:buSzPts val="1100"/>
              <a:buFont typeface="Urbanist"/>
              <a:buChar char="○"/>
            </a:pPr>
            <a:r>
              <a:rPr lang="en" sz="1100">
                <a:solidFill>
                  <a:schemeClr val="lt1"/>
                </a:solidFill>
                <a:latin typeface="Urbanist"/>
                <a:ea typeface="Urbanist"/>
                <a:cs typeface="Urbanist"/>
                <a:sym typeface="Urbanist"/>
              </a:rPr>
              <a:t>True → Passenger was transported to another dimension</a:t>
            </a:r>
            <a:br>
              <a:rPr lang="en" sz="1100">
                <a:solidFill>
                  <a:schemeClr val="lt1"/>
                </a:solidFill>
                <a:latin typeface="Urbanist"/>
                <a:ea typeface="Urbanist"/>
                <a:cs typeface="Urbanist"/>
                <a:sym typeface="Urbanist"/>
              </a:rPr>
            </a:br>
            <a:endParaRPr sz="1100">
              <a:solidFill>
                <a:schemeClr val="lt1"/>
              </a:solidFill>
              <a:latin typeface="Urbanist"/>
              <a:ea typeface="Urbanist"/>
              <a:cs typeface="Urbanist"/>
              <a:sym typeface="Urbanist"/>
            </a:endParaRPr>
          </a:p>
          <a:p>
            <a:pPr indent="-298450" lvl="1" marL="914400" rtl="0" algn="l">
              <a:lnSpc>
                <a:spcPct val="115000"/>
              </a:lnSpc>
              <a:spcBef>
                <a:spcPts val="0"/>
              </a:spcBef>
              <a:spcAft>
                <a:spcPts val="0"/>
              </a:spcAft>
              <a:buClr>
                <a:schemeClr val="lt1"/>
              </a:buClr>
              <a:buSzPts val="1100"/>
              <a:buFont typeface="Urbanist"/>
              <a:buChar char="○"/>
            </a:pPr>
            <a:r>
              <a:rPr lang="en" sz="1100">
                <a:solidFill>
                  <a:schemeClr val="lt1"/>
                </a:solidFill>
                <a:latin typeface="Urbanist"/>
                <a:ea typeface="Urbanist"/>
                <a:cs typeface="Urbanist"/>
                <a:sym typeface="Urbanist"/>
              </a:rPr>
              <a:t>False → Passenger remained in normal space</a:t>
            </a:r>
            <a:endParaRPr sz="1100">
              <a:solidFill>
                <a:schemeClr val="lt1"/>
              </a:solidFill>
              <a:latin typeface="Urbanist"/>
              <a:ea typeface="Urbanist"/>
              <a:cs typeface="Urbanist"/>
              <a:sym typeface="Urbanist"/>
            </a:endParaRPr>
          </a:p>
          <a:p>
            <a:pPr indent="0" lvl="0" marL="0" rtl="0" algn="l">
              <a:spcBef>
                <a:spcPts val="1200"/>
              </a:spcBef>
              <a:spcAft>
                <a:spcPts val="0"/>
              </a:spcAft>
              <a:buNone/>
            </a:pPr>
            <a:r>
              <a:t/>
            </a:r>
            <a:endParaRPr sz="1000"/>
          </a:p>
        </p:txBody>
      </p:sp>
      <p:sp>
        <p:nvSpPr>
          <p:cNvPr id="553" name="Google Shape;553;p46"/>
          <p:cNvSpPr txBox="1"/>
          <p:nvPr>
            <p:ph idx="5" type="subTitle"/>
          </p:nvPr>
        </p:nvSpPr>
        <p:spPr>
          <a:xfrm>
            <a:off x="229175" y="170700"/>
            <a:ext cx="884400" cy="330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solidFill>
                  <a:schemeClr val="accent3"/>
                </a:solidFill>
              </a:rPr>
              <a:t>Dataset</a:t>
            </a:r>
            <a:endParaRPr sz="1500">
              <a:solidFill>
                <a:schemeClr val="accent3"/>
              </a:solidFill>
            </a:endParaRPr>
          </a:p>
        </p:txBody>
      </p:sp>
      <p:sp>
        <p:nvSpPr>
          <p:cNvPr id="554" name="Google Shape;554;p46"/>
          <p:cNvSpPr txBox="1"/>
          <p:nvPr>
            <p:ph idx="9" type="subTitle"/>
          </p:nvPr>
        </p:nvSpPr>
        <p:spPr>
          <a:xfrm>
            <a:off x="1391397" y="7345913"/>
            <a:ext cx="2120400" cy="70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Rank in the industry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7"/>
          <p:cNvSpPr/>
          <p:nvPr/>
        </p:nvSpPr>
        <p:spPr>
          <a:xfrm>
            <a:off x="98525" y="457200"/>
            <a:ext cx="8700600" cy="4223700"/>
          </a:xfrm>
          <a:prstGeom prst="roundRect">
            <a:avLst>
              <a:gd fmla="val 2228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60" name="Google Shape;560;p47"/>
          <p:cNvSpPr txBox="1"/>
          <p:nvPr>
            <p:ph idx="5" type="subTitle"/>
          </p:nvPr>
        </p:nvSpPr>
        <p:spPr>
          <a:xfrm>
            <a:off x="229175" y="170700"/>
            <a:ext cx="884400" cy="330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solidFill>
                  <a:schemeClr val="accent3"/>
                </a:solidFill>
              </a:rPr>
              <a:t>Dataset</a:t>
            </a:r>
            <a:endParaRPr sz="1500">
              <a:solidFill>
                <a:schemeClr val="accent3"/>
              </a:solidFill>
            </a:endParaRPr>
          </a:p>
        </p:txBody>
      </p:sp>
      <p:graphicFrame>
        <p:nvGraphicFramePr>
          <p:cNvPr id="561" name="Google Shape;561;p47"/>
          <p:cNvGraphicFramePr/>
          <p:nvPr/>
        </p:nvGraphicFramePr>
        <p:xfrm>
          <a:off x="829325" y="534688"/>
          <a:ext cx="3000000" cy="3000000"/>
        </p:xfrm>
        <a:graphic>
          <a:graphicData uri="http://schemas.openxmlformats.org/drawingml/2006/table">
            <a:tbl>
              <a:tblPr>
                <a:noFill/>
                <a:tableStyleId>{5C79B88B-9294-4131-A92D-C130A6BC965C}</a:tableStyleId>
              </a:tblPr>
              <a:tblGrid>
                <a:gridCol w="2413000"/>
                <a:gridCol w="2413000"/>
                <a:gridCol w="2413000"/>
              </a:tblGrid>
              <a:tr h="376025">
                <a:tc>
                  <a:txBody>
                    <a:bodyPr/>
                    <a:lstStyle/>
                    <a:p>
                      <a:pPr indent="0" lvl="0" marL="0" rtl="0" algn="ctr">
                        <a:spcBef>
                          <a:spcPts val="0"/>
                        </a:spcBef>
                        <a:spcAft>
                          <a:spcPts val="0"/>
                        </a:spcAft>
                        <a:buNone/>
                      </a:pPr>
                      <a:r>
                        <a:rPr b="1" lang="en" sz="1000">
                          <a:solidFill>
                            <a:schemeClr val="accent3"/>
                          </a:solidFill>
                          <a:latin typeface="Urbanist"/>
                          <a:ea typeface="Urbanist"/>
                          <a:cs typeface="Urbanist"/>
                          <a:sym typeface="Urbanist"/>
                        </a:rPr>
                        <a:t>Feature</a:t>
                      </a:r>
                      <a:endParaRPr b="1" sz="1000">
                        <a:solidFill>
                          <a:schemeClr val="accent3"/>
                        </a:solidFill>
                        <a:latin typeface="Urbanist"/>
                        <a:ea typeface="Urbanist"/>
                        <a:cs typeface="Urbanist"/>
                        <a:sym typeface="Urbanist"/>
                      </a:endParaRPr>
                    </a:p>
                  </a:txBody>
                  <a:tcPr marT="91425" marB="91425" marR="91425" marL="91425"/>
                </a:tc>
                <a:tc>
                  <a:txBody>
                    <a:bodyPr/>
                    <a:lstStyle/>
                    <a:p>
                      <a:pPr indent="0" lvl="0" marL="0" rtl="0" algn="ctr">
                        <a:spcBef>
                          <a:spcPts val="0"/>
                        </a:spcBef>
                        <a:spcAft>
                          <a:spcPts val="0"/>
                        </a:spcAft>
                        <a:buNone/>
                      </a:pPr>
                      <a:r>
                        <a:rPr b="1" lang="en" sz="1000">
                          <a:solidFill>
                            <a:schemeClr val="accent3"/>
                          </a:solidFill>
                          <a:latin typeface="Urbanist"/>
                          <a:ea typeface="Urbanist"/>
                          <a:cs typeface="Urbanist"/>
                          <a:sym typeface="Urbanist"/>
                        </a:rPr>
                        <a:t>Type</a:t>
                      </a:r>
                      <a:endParaRPr b="1" sz="1000">
                        <a:solidFill>
                          <a:schemeClr val="accent3"/>
                        </a:solidFill>
                        <a:latin typeface="Urbanist"/>
                        <a:ea typeface="Urbanist"/>
                        <a:cs typeface="Urbanist"/>
                        <a:sym typeface="Urbanist"/>
                      </a:endParaRPr>
                    </a:p>
                  </a:txBody>
                  <a:tcPr marT="91425" marB="91425" marR="91425" marL="91425"/>
                </a:tc>
                <a:tc>
                  <a:txBody>
                    <a:bodyPr/>
                    <a:lstStyle/>
                    <a:p>
                      <a:pPr indent="0" lvl="0" marL="0" rtl="0" algn="ctr">
                        <a:spcBef>
                          <a:spcPts val="0"/>
                        </a:spcBef>
                        <a:spcAft>
                          <a:spcPts val="0"/>
                        </a:spcAft>
                        <a:buNone/>
                      </a:pPr>
                      <a:r>
                        <a:rPr b="1" lang="en" sz="1000">
                          <a:solidFill>
                            <a:schemeClr val="accent3"/>
                          </a:solidFill>
                          <a:latin typeface="Urbanist"/>
                          <a:ea typeface="Urbanist"/>
                          <a:cs typeface="Urbanist"/>
                          <a:sym typeface="Urbanist"/>
                        </a:rPr>
                        <a:t>Description</a:t>
                      </a:r>
                      <a:endParaRPr b="1" sz="1000">
                        <a:solidFill>
                          <a:schemeClr val="accent3"/>
                        </a:solidFill>
                        <a:latin typeface="Urbanist"/>
                        <a:ea typeface="Urbanist"/>
                        <a:cs typeface="Urbanist"/>
                        <a:sym typeface="Urbanist"/>
                      </a:endParaRPr>
                    </a:p>
                  </a:txBody>
                  <a:tcPr marT="91425" marB="91425" marR="91425" marL="91425"/>
                </a:tc>
              </a:tr>
              <a:tr h="376025">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PassengerId</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Object</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Unique passenger identifier</a:t>
                      </a:r>
                      <a:endParaRPr sz="1000">
                        <a:solidFill>
                          <a:schemeClr val="lt1"/>
                        </a:solidFill>
                        <a:latin typeface="Urbanist"/>
                        <a:ea typeface="Urbanist"/>
                        <a:cs typeface="Urbanist"/>
                        <a:sym typeface="Urbanist"/>
                      </a:endParaRPr>
                    </a:p>
                  </a:txBody>
                  <a:tcPr marT="91425" marB="91425" marR="91425" marL="91425"/>
                </a:tc>
              </a:tr>
              <a:tr h="376025">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HomePlanet</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Categorical</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Planet of origin</a:t>
                      </a:r>
                      <a:endParaRPr sz="1000">
                        <a:solidFill>
                          <a:schemeClr val="lt1"/>
                        </a:solidFill>
                        <a:latin typeface="Urbanist"/>
                        <a:ea typeface="Urbanist"/>
                        <a:cs typeface="Urbanist"/>
                        <a:sym typeface="Urbanist"/>
                      </a:endParaRPr>
                    </a:p>
                  </a:txBody>
                  <a:tcPr marT="91425" marB="91425" marR="91425" marL="91425"/>
                </a:tc>
              </a:tr>
              <a:tr h="481275">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CryoSleep</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Boolean</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Whether the passenger opted for cryosleep</a:t>
                      </a:r>
                      <a:endParaRPr sz="1000">
                        <a:solidFill>
                          <a:schemeClr val="lt1"/>
                        </a:solidFill>
                        <a:latin typeface="Urbanist"/>
                        <a:ea typeface="Urbanist"/>
                        <a:cs typeface="Urbanist"/>
                        <a:sym typeface="Urbanist"/>
                      </a:endParaRPr>
                    </a:p>
                  </a:txBody>
                  <a:tcPr marT="91425" marB="91425" marR="91425" marL="91425"/>
                </a:tc>
              </a:tr>
              <a:tr h="481275">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Cabin</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Object</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Location encoded as Deck/Number/Side</a:t>
                      </a:r>
                      <a:endParaRPr sz="1000">
                        <a:solidFill>
                          <a:schemeClr val="lt1"/>
                        </a:solidFill>
                        <a:latin typeface="Urbanist"/>
                        <a:ea typeface="Urbanist"/>
                        <a:cs typeface="Urbanist"/>
                        <a:sym typeface="Urbanist"/>
                      </a:endParaRPr>
                    </a:p>
                  </a:txBody>
                  <a:tcPr marT="91425" marB="91425" marR="91425" marL="91425"/>
                </a:tc>
              </a:tr>
              <a:tr h="376025">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Destination</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Categorical</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Destination of the passenger</a:t>
                      </a:r>
                      <a:endParaRPr sz="1000">
                        <a:solidFill>
                          <a:schemeClr val="lt1"/>
                        </a:solidFill>
                        <a:latin typeface="Urbanist"/>
                        <a:ea typeface="Urbanist"/>
                        <a:cs typeface="Urbanist"/>
                        <a:sym typeface="Urbanist"/>
                      </a:endParaRPr>
                    </a:p>
                  </a:txBody>
                  <a:tcPr marT="91425" marB="91425" marR="91425" marL="91425"/>
                </a:tc>
              </a:tr>
              <a:tr h="376025">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Age</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Numeric</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Passenger age</a:t>
                      </a:r>
                      <a:endParaRPr sz="1000">
                        <a:solidFill>
                          <a:schemeClr val="lt1"/>
                        </a:solidFill>
                        <a:latin typeface="Urbanist"/>
                        <a:ea typeface="Urbanist"/>
                        <a:cs typeface="Urbanist"/>
                        <a:sym typeface="Urbanist"/>
                      </a:endParaRPr>
                    </a:p>
                  </a:txBody>
                  <a:tcPr marT="91425" marB="91425" marR="91425" marL="91425"/>
                </a:tc>
              </a:tr>
              <a:tr h="376025">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VIP</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Boolean</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Whether the passenger is VIP</a:t>
                      </a:r>
                      <a:endParaRPr sz="1000">
                        <a:solidFill>
                          <a:schemeClr val="lt1"/>
                        </a:solidFill>
                        <a:latin typeface="Urbanist"/>
                        <a:ea typeface="Urbanist"/>
                        <a:cs typeface="Urbanist"/>
                        <a:sym typeface="Urbanist"/>
                      </a:endParaRPr>
                    </a:p>
                  </a:txBody>
                  <a:tcPr marT="91425" marB="91425" marR="91425" marL="91425"/>
                </a:tc>
              </a:tr>
              <a:tr h="481275">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RoomService, FoodCourt, ShoppingMall, Spa, VRDeck</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Numeric</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Onboard spending categories</a:t>
                      </a:r>
                      <a:endParaRPr sz="1000">
                        <a:solidFill>
                          <a:schemeClr val="lt1"/>
                        </a:solidFill>
                        <a:latin typeface="Urbanist"/>
                        <a:ea typeface="Urbanist"/>
                        <a:cs typeface="Urbanist"/>
                        <a:sym typeface="Urbanist"/>
                      </a:endParaRPr>
                    </a:p>
                  </a:txBody>
                  <a:tcPr marT="91425" marB="91425" marR="91425" marL="91425"/>
                </a:tc>
              </a:tr>
              <a:tr h="376025">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Transported</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Boolean</a:t>
                      </a:r>
                      <a:endParaRPr sz="1000">
                        <a:solidFill>
                          <a:schemeClr val="lt1"/>
                        </a:solidFill>
                        <a:latin typeface="Urbanist"/>
                        <a:ea typeface="Urbanist"/>
                        <a:cs typeface="Urbanist"/>
                        <a:sym typeface="Urbanist"/>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Target label</a:t>
                      </a:r>
                      <a:endParaRPr sz="1000">
                        <a:solidFill>
                          <a:schemeClr val="lt1"/>
                        </a:solidFill>
                        <a:latin typeface="Urbanist"/>
                        <a:ea typeface="Urbanist"/>
                        <a:cs typeface="Urbanist"/>
                        <a:sym typeface="Urbanist"/>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8"/>
          <p:cNvSpPr txBox="1"/>
          <p:nvPr>
            <p:ph idx="1" type="subTitle"/>
          </p:nvPr>
        </p:nvSpPr>
        <p:spPr>
          <a:xfrm>
            <a:off x="222300" y="783175"/>
            <a:ext cx="5767200" cy="665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The project used three main supervised learning algorithms.</a:t>
            </a:r>
            <a:endParaRPr/>
          </a:p>
          <a:p>
            <a:pPr indent="0" lvl="0" marL="0" rtl="0" algn="l">
              <a:spcBef>
                <a:spcPts val="0"/>
              </a:spcBef>
              <a:spcAft>
                <a:spcPts val="0"/>
              </a:spcAft>
              <a:buNone/>
            </a:pPr>
            <a:r>
              <a:rPr lang="en"/>
              <a:t>Each model was trained using the same training/validation split:</a:t>
            </a:r>
            <a:endParaRPr/>
          </a:p>
        </p:txBody>
      </p:sp>
      <p:sp>
        <p:nvSpPr>
          <p:cNvPr id="567" name="Google Shape;567;p48"/>
          <p:cNvSpPr txBox="1"/>
          <p:nvPr>
            <p:ph type="title"/>
          </p:nvPr>
        </p:nvSpPr>
        <p:spPr>
          <a:xfrm>
            <a:off x="228600" y="228600"/>
            <a:ext cx="4176000" cy="39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400">
                <a:solidFill>
                  <a:schemeClr val="accent3"/>
                </a:solidFill>
              </a:rPr>
              <a:t>Methods and Algorithms</a:t>
            </a:r>
            <a:endParaRPr sz="2400">
              <a:solidFill>
                <a:schemeClr val="accent3"/>
              </a:solidFill>
            </a:endParaRPr>
          </a:p>
        </p:txBody>
      </p:sp>
      <p:pic>
        <p:nvPicPr>
          <p:cNvPr id="568" name="Google Shape;568;p48" title="split.png"/>
          <p:cNvPicPr preferRelativeResize="0"/>
          <p:nvPr/>
        </p:nvPicPr>
        <p:blipFill>
          <a:blip r:embed="rId3">
            <a:alphaModFix/>
          </a:blip>
          <a:stretch>
            <a:fillRect/>
          </a:stretch>
        </p:blipFill>
        <p:spPr>
          <a:xfrm>
            <a:off x="228600" y="1419150"/>
            <a:ext cx="3648075" cy="952500"/>
          </a:xfrm>
          <a:prstGeom prst="rect">
            <a:avLst/>
          </a:prstGeom>
          <a:noFill/>
          <a:ln>
            <a:noFill/>
          </a:ln>
        </p:spPr>
      </p:pic>
      <p:pic>
        <p:nvPicPr>
          <p:cNvPr id="569" name="Google Shape;569;p48" title="data.png"/>
          <p:cNvPicPr preferRelativeResize="0"/>
          <p:nvPr/>
        </p:nvPicPr>
        <p:blipFill>
          <a:blip r:embed="rId4">
            <a:alphaModFix/>
          </a:blip>
          <a:stretch>
            <a:fillRect/>
          </a:stretch>
        </p:blipFill>
        <p:spPr>
          <a:xfrm>
            <a:off x="228600" y="3065975"/>
            <a:ext cx="8839199" cy="1544869"/>
          </a:xfrm>
          <a:prstGeom prst="rect">
            <a:avLst/>
          </a:prstGeom>
          <a:noFill/>
          <a:ln>
            <a:noFill/>
          </a:ln>
        </p:spPr>
      </p:pic>
      <p:sp>
        <p:nvSpPr>
          <p:cNvPr id="570" name="Google Shape;570;p48"/>
          <p:cNvSpPr txBox="1"/>
          <p:nvPr/>
        </p:nvSpPr>
        <p:spPr>
          <a:xfrm>
            <a:off x="162200" y="2447250"/>
            <a:ext cx="8370900" cy="6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Urbanist"/>
                <a:ea typeface="Urbanist"/>
                <a:cs typeface="Urbanist"/>
                <a:sym typeface="Urbanist"/>
              </a:rPr>
              <a:t>Loaded Data: (sample of raw dataset that was entered, reading </a:t>
            </a:r>
            <a:r>
              <a:rPr lang="en" sz="1600">
                <a:solidFill>
                  <a:schemeClr val="lt1"/>
                </a:solidFill>
                <a:latin typeface="Urbanist"/>
                <a:ea typeface="Urbanist"/>
                <a:cs typeface="Urbanist"/>
                <a:sym typeface="Urbanist"/>
              </a:rPr>
              <a:t>train.csv and test.csv and storing them as pandas DataFrames</a:t>
            </a:r>
            <a:r>
              <a:rPr lang="en" sz="1600">
                <a:solidFill>
                  <a:schemeClr val="lt1"/>
                </a:solidFill>
                <a:latin typeface="Urbanist"/>
                <a:ea typeface="Urbanist"/>
                <a:cs typeface="Urbanist"/>
                <a:sym typeface="Urbanist"/>
              </a:rPr>
              <a:t>)</a:t>
            </a:r>
            <a:endParaRPr sz="1600">
              <a:solidFill>
                <a:schemeClr val="lt1"/>
              </a:solidFill>
              <a:latin typeface="Urbanist"/>
              <a:ea typeface="Urbanist"/>
              <a:cs typeface="Urbanist"/>
              <a:sym typeface="Urbanis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9"/>
          <p:cNvSpPr txBox="1"/>
          <p:nvPr/>
        </p:nvSpPr>
        <p:spPr>
          <a:xfrm>
            <a:off x="152400" y="-20675"/>
            <a:ext cx="16455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3"/>
                </a:solidFill>
                <a:latin typeface="Urbanist"/>
                <a:ea typeface="Urbanist"/>
                <a:cs typeface="Urbanist"/>
                <a:sym typeface="Urbanist"/>
              </a:rPr>
              <a:t>Processed</a:t>
            </a:r>
            <a:r>
              <a:rPr lang="en" sz="1600">
                <a:solidFill>
                  <a:schemeClr val="accent3"/>
                </a:solidFill>
                <a:latin typeface="Urbanist"/>
                <a:ea typeface="Urbanist"/>
                <a:cs typeface="Urbanist"/>
                <a:sym typeface="Urbanist"/>
              </a:rPr>
              <a:t> data</a:t>
            </a:r>
            <a:endParaRPr sz="1600">
              <a:solidFill>
                <a:schemeClr val="accent3"/>
              </a:solidFill>
              <a:latin typeface="Urbanist"/>
              <a:ea typeface="Urbanist"/>
              <a:cs typeface="Urbanist"/>
              <a:sym typeface="Urbanist"/>
            </a:endParaRPr>
          </a:p>
        </p:txBody>
      </p:sp>
      <p:pic>
        <p:nvPicPr>
          <p:cNvPr id="576" name="Google Shape;576;p49" title="3. proccess data.png"/>
          <p:cNvPicPr preferRelativeResize="0"/>
          <p:nvPr/>
        </p:nvPicPr>
        <p:blipFill>
          <a:blip r:embed="rId3">
            <a:alphaModFix/>
          </a:blip>
          <a:stretch>
            <a:fillRect/>
          </a:stretch>
        </p:blipFill>
        <p:spPr>
          <a:xfrm>
            <a:off x="152400" y="2795425"/>
            <a:ext cx="8839199" cy="1756860"/>
          </a:xfrm>
          <a:prstGeom prst="rect">
            <a:avLst/>
          </a:prstGeom>
          <a:noFill/>
          <a:ln>
            <a:noFill/>
          </a:ln>
        </p:spPr>
      </p:pic>
      <p:sp>
        <p:nvSpPr>
          <p:cNvPr id="577" name="Google Shape;577;p49"/>
          <p:cNvSpPr txBox="1"/>
          <p:nvPr/>
        </p:nvSpPr>
        <p:spPr>
          <a:xfrm>
            <a:off x="152400" y="338125"/>
            <a:ext cx="8607300" cy="24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To </a:t>
            </a:r>
            <a:r>
              <a:rPr lang="en" sz="1000">
                <a:solidFill>
                  <a:schemeClr val="lt1"/>
                </a:solidFill>
                <a:latin typeface="Urbanist"/>
                <a:ea typeface="Urbanist"/>
                <a:cs typeface="Urbanist"/>
                <a:sym typeface="Urbanist"/>
              </a:rPr>
              <a:t>process</a:t>
            </a:r>
            <a:r>
              <a:rPr lang="en" sz="1000">
                <a:solidFill>
                  <a:schemeClr val="lt1"/>
                </a:solidFill>
                <a:latin typeface="Urbanist"/>
                <a:ea typeface="Urbanist"/>
                <a:cs typeface="Urbanist"/>
                <a:sym typeface="Urbanist"/>
              </a:rPr>
              <a:t> the data we did the following in order to prepare the data so that machine learning models can understand it:</a:t>
            </a:r>
            <a:br>
              <a:rPr lang="en" sz="1000">
                <a:solidFill>
                  <a:schemeClr val="lt1"/>
                </a:solidFill>
                <a:latin typeface="Urbanist"/>
                <a:ea typeface="Urbanist"/>
                <a:cs typeface="Urbanist"/>
                <a:sym typeface="Urbanist"/>
              </a:rPr>
            </a:br>
            <a:endParaRPr sz="1000">
              <a:solidFill>
                <a:schemeClr val="lt1"/>
              </a:solidFill>
              <a:latin typeface="Urbanist"/>
              <a:ea typeface="Urbanist"/>
              <a:cs typeface="Urbanist"/>
              <a:sym typeface="Urbanist"/>
            </a:endParaRPr>
          </a:p>
          <a:p>
            <a:pPr indent="-292100" lvl="0" marL="457200" rtl="0" algn="l">
              <a:spcBef>
                <a:spcPts val="0"/>
              </a:spcBef>
              <a:spcAft>
                <a:spcPts val="0"/>
              </a:spcAft>
              <a:buClr>
                <a:schemeClr val="lt1"/>
              </a:buClr>
              <a:buSzPts val="1000"/>
              <a:buFont typeface="Urbanist"/>
              <a:buChar char="●"/>
            </a:pPr>
            <a:r>
              <a:rPr b="1" lang="en" sz="1000">
                <a:solidFill>
                  <a:schemeClr val="accent5"/>
                </a:solidFill>
                <a:latin typeface="Urbanist"/>
                <a:ea typeface="Urbanist"/>
                <a:cs typeface="Urbanist"/>
                <a:sym typeface="Urbanist"/>
              </a:rPr>
              <a:t>Split the Cabin column</a:t>
            </a:r>
            <a:r>
              <a:rPr lang="en" sz="1000">
                <a:solidFill>
                  <a:schemeClr val="lt1"/>
                </a:solidFill>
                <a:latin typeface="Urbanist"/>
                <a:ea typeface="Urbanist"/>
                <a:cs typeface="Urbanist"/>
                <a:sym typeface="Urbanist"/>
              </a:rPr>
              <a:t> into Deck, Cabin Number, and Side</a:t>
            </a:r>
            <a:br>
              <a:rPr lang="en" sz="1000">
                <a:solidFill>
                  <a:schemeClr val="lt1"/>
                </a:solidFill>
                <a:latin typeface="Urbanist"/>
                <a:ea typeface="Urbanist"/>
                <a:cs typeface="Urbanist"/>
                <a:sym typeface="Urbanist"/>
              </a:rPr>
            </a:br>
            <a:endParaRPr sz="1000">
              <a:solidFill>
                <a:schemeClr val="lt1"/>
              </a:solidFill>
              <a:latin typeface="Urbanist"/>
              <a:ea typeface="Urbanist"/>
              <a:cs typeface="Urbanist"/>
              <a:sym typeface="Urbanist"/>
            </a:endParaRPr>
          </a:p>
          <a:p>
            <a:pPr indent="-292100" lvl="0" marL="457200" rtl="0" algn="l">
              <a:spcBef>
                <a:spcPts val="0"/>
              </a:spcBef>
              <a:spcAft>
                <a:spcPts val="0"/>
              </a:spcAft>
              <a:buClr>
                <a:schemeClr val="lt1"/>
              </a:buClr>
              <a:buSzPts val="1000"/>
              <a:buFont typeface="Urbanist"/>
              <a:buChar char="●"/>
            </a:pPr>
            <a:r>
              <a:rPr b="1" lang="en" sz="1000">
                <a:solidFill>
                  <a:schemeClr val="accent5"/>
                </a:solidFill>
                <a:latin typeface="Urbanist"/>
                <a:ea typeface="Urbanist"/>
                <a:cs typeface="Urbanist"/>
                <a:sym typeface="Urbanist"/>
              </a:rPr>
              <a:t>Identified numeric and categorical columns</a:t>
            </a:r>
            <a:br>
              <a:rPr b="1" lang="en" sz="1000">
                <a:solidFill>
                  <a:schemeClr val="lt1"/>
                </a:solidFill>
                <a:latin typeface="Urbanist"/>
                <a:ea typeface="Urbanist"/>
                <a:cs typeface="Urbanist"/>
                <a:sym typeface="Urbanist"/>
              </a:rPr>
            </a:br>
            <a:endParaRPr b="1" sz="1000">
              <a:solidFill>
                <a:schemeClr val="lt1"/>
              </a:solidFill>
              <a:latin typeface="Urbanist"/>
              <a:ea typeface="Urbanist"/>
              <a:cs typeface="Urbanist"/>
              <a:sym typeface="Urbanist"/>
            </a:endParaRPr>
          </a:p>
          <a:p>
            <a:pPr indent="-292100" lvl="0" marL="457200" rtl="0" algn="l">
              <a:spcBef>
                <a:spcPts val="0"/>
              </a:spcBef>
              <a:spcAft>
                <a:spcPts val="0"/>
              </a:spcAft>
              <a:buClr>
                <a:schemeClr val="lt1"/>
              </a:buClr>
              <a:buSzPts val="1000"/>
              <a:buFont typeface="Urbanist"/>
              <a:buChar char="●"/>
            </a:pPr>
            <a:r>
              <a:rPr lang="en" sz="1000">
                <a:solidFill>
                  <a:schemeClr val="lt1"/>
                </a:solidFill>
                <a:latin typeface="Urbanist"/>
                <a:ea typeface="Urbanist"/>
                <a:cs typeface="Urbanist"/>
                <a:sym typeface="Urbanist"/>
              </a:rPr>
              <a:t>Filled </a:t>
            </a:r>
            <a:r>
              <a:rPr b="1" lang="en" sz="1000">
                <a:solidFill>
                  <a:schemeClr val="accent5"/>
                </a:solidFill>
                <a:latin typeface="Urbanist"/>
                <a:ea typeface="Urbanist"/>
                <a:cs typeface="Urbanist"/>
                <a:sym typeface="Urbanist"/>
              </a:rPr>
              <a:t>missing numeric values</a:t>
            </a:r>
            <a:r>
              <a:rPr lang="en" sz="1000">
                <a:solidFill>
                  <a:schemeClr val="lt1"/>
                </a:solidFill>
                <a:latin typeface="Urbanist"/>
                <a:ea typeface="Urbanist"/>
                <a:cs typeface="Urbanist"/>
                <a:sym typeface="Urbanist"/>
              </a:rPr>
              <a:t> with the median</a:t>
            </a:r>
            <a:br>
              <a:rPr lang="en" sz="1000">
                <a:solidFill>
                  <a:schemeClr val="lt1"/>
                </a:solidFill>
                <a:latin typeface="Urbanist"/>
                <a:ea typeface="Urbanist"/>
                <a:cs typeface="Urbanist"/>
                <a:sym typeface="Urbanist"/>
              </a:rPr>
            </a:br>
            <a:endParaRPr sz="1000">
              <a:solidFill>
                <a:schemeClr val="lt1"/>
              </a:solidFill>
              <a:latin typeface="Urbanist"/>
              <a:ea typeface="Urbanist"/>
              <a:cs typeface="Urbanist"/>
              <a:sym typeface="Urbanist"/>
            </a:endParaRPr>
          </a:p>
          <a:p>
            <a:pPr indent="-292100" lvl="0" marL="457200" rtl="0" algn="l">
              <a:spcBef>
                <a:spcPts val="0"/>
              </a:spcBef>
              <a:spcAft>
                <a:spcPts val="0"/>
              </a:spcAft>
              <a:buClr>
                <a:schemeClr val="lt1"/>
              </a:buClr>
              <a:buSzPts val="1000"/>
              <a:buFont typeface="Urbanist"/>
              <a:buChar char="●"/>
            </a:pPr>
            <a:r>
              <a:rPr lang="en" sz="1000">
                <a:solidFill>
                  <a:schemeClr val="lt1"/>
                </a:solidFill>
                <a:latin typeface="Urbanist"/>
                <a:ea typeface="Urbanist"/>
                <a:cs typeface="Urbanist"/>
                <a:sym typeface="Urbanist"/>
              </a:rPr>
              <a:t>Filled </a:t>
            </a:r>
            <a:r>
              <a:rPr b="1" lang="en" sz="1000">
                <a:solidFill>
                  <a:schemeClr val="accent5"/>
                </a:solidFill>
                <a:latin typeface="Urbanist"/>
                <a:ea typeface="Urbanist"/>
                <a:cs typeface="Urbanist"/>
                <a:sym typeface="Urbanist"/>
              </a:rPr>
              <a:t>missing categorical values</a:t>
            </a:r>
            <a:r>
              <a:rPr lang="en" sz="1000">
                <a:solidFill>
                  <a:schemeClr val="lt1"/>
                </a:solidFill>
                <a:latin typeface="Urbanist"/>
                <a:ea typeface="Urbanist"/>
                <a:cs typeface="Urbanist"/>
                <a:sym typeface="Urbanist"/>
              </a:rPr>
              <a:t> with the mode (most common value)</a:t>
            </a:r>
            <a:br>
              <a:rPr lang="en" sz="1000">
                <a:solidFill>
                  <a:schemeClr val="lt1"/>
                </a:solidFill>
                <a:latin typeface="Urbanist"/>
                <a:ea typeface="Urbanist"/>
                <a:cs typeface="Urbanist"/>
                <a:sym typeface="Urbanist"/>
              </a:rPr>
            </a:br>
            <a:endParaRPr sz="1000">
              <a:solidFill>
                <a:schemeClr val="lt1"/>
              </a:solidFill>
              <a:latin typeface="Urbanist"/>
              <a:ea typeface="Urbanist"/>
              <a:cs typeface="Urbanist"/>
              <a:sym typeface="Urbanist"/>
            </a:endParaRPr>
          </a:p>
          <a:p>
            <a:pPr indent="-292100" lvl="0" marL="457200" rtl="0" algn="l">
              <a:spcBef>
                <a:spcPts val="0"/>
              </a:spcBef>
              <a:spcAft>
                <a:spcPts val="0"/>
              </a:spcAft>
              <a:buClr>
                <a:schemeClr val="lt1"/>
              </a:buClr>
              <a:buSzPts val="1000"/>
              <a:buFont typeface="Urbanist"/>
              <a:buChar char="●"/>
            </a:pPr>
            <a:r>
              <a:rPr lang="en" sz="1000">
                <a:solidFill>
                  <a:schemeClr val="lt1"/>
                </a:solidFill>
                <a:latin typeface="Urbanist"/>
                <a:ea typeface="Urbanist"/>
                <a:cs typeface="Urbanist"/>
                <a:sym typeface="Urbanist"/>
              </a:rPr>
              <a:t>Ensured consistent data types to avoid warnings</a:t>
            </a:r>
            <a:br>
              <a:rPr lang="en" sz="1000">
                <a:solidFill>
                  <a:schemeClr val="lt1"/>
                </a:solidFill>
                <a:latin typeface="Urbanist"/>
                <a:ea typeface="Urbanist"/>
                <a:cs typeface="Urbanist"/>
                <a:sym typeface="Urbanist"/>
              </a:rPr>
            </a:br>
            <a:endParaRPr sz="1000">
              <a:solidFill>
                <a:schemeClr val="lt1"/>
              </a:solidFill>
              <a:latin typeface="Urbanist"/>
              <a:ea typeface="Urbanist"/>
              <a:cs typeface="Urbanist"/>
              <a:sym typeface="Urbanist"/>
            </a:endParaRPr>
          </a:p>
          <a:p>
            <a:pPr indent="-292100" lvl="0" marL="457200" rtl="0" algn="l">
              <a:spcBef>
                <a:spcPts val="0"/>
              </a:spcBef>
              <a:spcAft>
                <a:spcPts val="0"/>
              </a:spcAft>
              <a:buClr>
                <a:schemeClr val="lt1"/>
              </a:buClr>
              <a:buSzPts val="1000"/>
              <a:buFont typeface="Urbanist"/>
              <a:buChar char="●"/>
            </a:pPr>
            <a:r>
              <a:rPr lang="en" sz="1000">
                <a:solidFill>
                  <a:schemeClr val="lt1"/>
                </a:solidFill>
                <a:latin typeface="Urbanist"/>
                <a:ea typeface="Urbanist"/>
                <a:cs typeface="Urbanist"/>
                <a:sym typeface="Urbanist"/>
              </a:rPr>
              <a:t>Removed irrelevant columns (Name, Cabin, PassengerId)</a:t>
            </a:r>
            <a:br>
              <a:rPr lang="en" sz="1000">
                <a:solidFill>
                  <a:schemeClr val="lt1"/>
                </a:solidFill>
                <a:latin typeface="Urbanist"/>
                <a:ea typeface="Urbanist"/>
                <a:cs typeface="Urbanist"/>
                <a:sym typeface="Urbanist"/>
              </a:rPr>
            </a:br>
            <a:endParaRPr sz="1000">
              <a:solidFill>
                <a:schemeClr val="lt1"/>
              </a:solidFill>
              <a:latin typeface="Urbanist"/>
              <a:ea typeface="Urbanist"/>
              <a:cs typeface="Urbanist"/>
              <a:sym typeface="Urbanist"/>
            </a:endParaRPr>
          </a:p>
          <a:p>
            <a:pPr indent="-292100" lvl="0" marL="457200" rtl="0" algn="l">
              <a:spcBef>
                <a:spcPts val="0"/>
              </a:spcBef>
              <a:spcAft>
                <a:spcPts val="0"/>
              </a:spcAft>
              <a:buClr>
                <a:schemeClr val="lt1"/>
              </a:buClr>
              <a:buSzPts val="1000"/>
              <a:buFont typeface="Urbanist"/>
              <a:buChar char="●"/>
            </a:pPr>
            <a:r>
              <a:rPr lang="en" sz="1000">
                <a:solidFill>
                  <a:schemeClr val="lt1"/>
                </a:solidFill>
                <a:latin typeface="Urbanist"/>
                <a:ea typeface="Urbanist"/>
                <a:cs typeface="Urbanist"/>
                <a:sym typeface="Urbanist"/>
              </a:rPr>
              <a:t>Split data into </a:t>
            </a:r>
            <a:r>
              <a:rPr b="1" lang="en" sz="1000">
                <a:solidFill>
                  <a:schemeClr val="accent5"/>
                </a:solidFill>
                <a:latin typeface="Urbanist"/>
                <a:ea typeface="Urbanist"/>
                <a:cs typeface="Urbanist"/>
                <a:sym typeface="Urbanist"/>
              </a:rPr>
              <a:t>training</a:t>
            </a:r>
            <a:r>
              <a:rPr lang="en" sz="1000">
                <a:solidFill>
                  <a:schemeClr val="accent5"/>
                </a:solidFill>
                <a:latin typeface="Urbanist"/>
                <a:ea typeface="Urbanist"/>
                <a:cs typeface="Urbanist"/>
                <a:sym typeface="Urbanist"/>
              </a:rPr>
              <a:t> </a:t>
            </a:r>
            <a:r>
              <a:rPr lang="en" sz="1000">
                <a:solidFill>
                  <a:schemeClr val="lt1"/>
                </a:solidFill>
                <a:latin typeface="Urbanist"/>
                <a:ea typeface="Urbanist"/>
                <a:cs typeface="Urbanist"/>
                <a:sym typeface="Urbanist"/>
              </a:rPr>
              <a:t>and </a:t>
            </a:r>
            <a:r>
              <a:rPr b="1" lang="en" sz="1000">
                <a:solidFill>
                  <a:schemeClr val="accent5"/>
                </a:solidFill>
                <a:latin typeface="Urbanist"/>
                <a:ea typeface="Urbanist"/>
                <a:cs typeface="Urbanist"/>
                <a:sym typeface="Urbanist"/>
              </a:rPr>
              <a:t>validation</a:t>
            </a:r>
            <a:r>
              <a:rPr lang="en" sz="1000">
                <a:solidFill>
                  <a:schemeClr val="accent5"/>
                </a:solidFill>
                <a:latin typeface="Urbanist"/>
                <a:ea typeface="Urbanist"/>
                <a:cs typeface="Urbanist"/>
                <a:sym typeface="Urbanist"/>
              </a:rPr>
              <a:t> </a:t>
            </a:r>
            <a:r>
              <a:rPr lang="en" sz="1000">
                <a:solidFill>
                  <a:schemeClr val="lt1"/>
                </a:solidFill>
                <a:latin typeface="Urbanist"/>
                <a:ea typeface="Urbanist"/>
                <a:cs typeface="Urbanist"/>
                <a:sym typeface="Urbanist"/>
              </a:rPr>
              <a:t>sets (80/20 split)</a:t>
            </a:r>
            <a:endParaRPr sz="1000">
              <a:solidFill>
                <a:schemeClr val="lt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0"/>
          <p:cNvSpPr txBox="1"/>
          <p:nvPr>
            <p:ph idx="1" type="subTitle"/>
          </p:nvPr>
        </p:nvSpPr>
        <p:spPr>
          <a:xfrm>
            <a:off x="217375" y="228600"/>
            <a:ext cx="44028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400">
                <a:solidFill>
                  <a:schemeClr val="accent3"/>
                </a:solidFill>
              </a:rPr>
              <a:t>Logistic Regression Model</a:t>
            </a:r>
            <a:endParaRPr sz="2400">
              <a:solidFill>
                <a:schemeClr val="accent3"/>
              </a:solidFill>
            </a:endParaRPr>
          </a:p>
        </p:txBody>
      </p:sp>
      <p:sp>
        <p:nvSpPr>
          <p:cNvPr id="583" name="Google Shape;583;p50"/>
          <p:cNvSpPr txBox="1"/>
          <p:nvPr/>
        </p:nvSpPr>
        <p:spPr>
          <a:xfrm>
            <a:off x="200250" y="865375"/>
            <a:ext cx="4259100" cy="15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Using this model we:</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Created</a:t>
            </a:r>
            <a:r>
              <a:rPr lang="en" sz="1200">
                <a:solidFill>
                  <a:schemeClr val="lt1"/>
                </a:solidFill>
                <a:latin typeface="Urbanist"/>
                <a:ea typeface="Urbanist"/>
                <a:cs typeface="Urbanist"/>
                <a:sym typeface="Urbanist"/>
              </a:rPr>
              <a:t> a </a:t>
            </a:r>
            <a:r>
              <a:rPr b="1" lang="en" sz="1200">
                <a:solidFill>
                  <a:schemeClr val="lt1"/>
                </a:solidFill>
                <a:latin typeface="Urbanist"/>
                <a:ea typeface="Urbanist"/>
                <a:cs typeface="Urbanist"/>
                <a:sym typeface="Urbanist"/>
              </a:rPr>
              <a:t>preprocessing pipeline that</a:t>
            </a:r>
            <a:r>
              <a:rPr lang="en" sz="1200">
                <a:solidFill>
                  <a:schemeClr val="lt1"/>
                </a:solidFill>
                <a:latin typeface="Urbanist"/>
                <a:ea typeface="Urbanist"/>
                <a:cs typeface="Urbanist"/>
                <a:sym typeface="Urbanist"/>
              </a:rPr>
              <a:t>:</a:t>
            </a:r>
            <a:endParaRPr sz="1200">
              <a:solidFill>
                <a:schemeClr val="lt1"/>
              </a:solidFill>
              <a:latin typeface="Urbanist"/>
              <a:ea typeface="Urbanist"/>
              <a:cs typeface="Urbanist"/>
              <a:sym typeface="Urbanist"/>
            </a:endParaRPr>
          </a:p>
          <a:p>
            <a:pPr indent="-304800" lvl="1" marL="914400" rtl="0" algn="l">
              <a:lnSpc>
                <a:spcPct val="115000"/>
              </a:lnSpc>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Scales numeric values</a:t>
            </a:r>
            <a:endParaRPr sz="1200">
              <a:solidFill>
                <a:schemeClr val="lt1"/>
              </a:solidFill>
              <a:latin typeface="Urbanist"/>
              <a:ea typeface="Urbanist"/>
              <a:cs typeface="Urbanist"/>
              <a:sym typeface="Urbanist"/>
            </a:endParaRPr>
          </a:p>
          <a:p>
            <a:pPr indent="-304800" lvl="1" marL="914400" rtl="0" algn="l">
              <a:lnSpc>
                <a:spcPct val="115000"/>
              </a:lnSpc>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One-hot </a:t>
            </a:r>
            <a:r>
              <a:rPr lang="en" sz="1200">
                <a:solidFill>
                  <a:schemeClr val="lt1"/>
                </a:solidFill>
                <a:latin typeface="Urbanist"/>
                <a:ea typeface="Urbanist"/>
                <a:cs typeface="Urbanist"/>
                <a:sym typeface="Urbanist"/>
              </a:rPr>
              <a:t>encoding</a:t>
            </a:r>
            <a:r>
              <a:rPr lang="en" sz="1200">
                <a:solidFill>
                  <a:schemeClr val="lt1"/>
                </a:solidFill>
                <a:latin typeface="Urbanist"/>
                <a:ea typeface="Urbanist"/>
                <a:cs typeface="Urbanist"/>
                <a:sym typeface="Urbanist"/>
              </a:rPr>
              <a:t> categorical values</a:t>
            </a:r>
            <a:endParaRPr sz="1200">
              <a:solidFill>
                <a:schemeClr val="lt1"/>
              </a:solidFill>
              <a:latin typeface="Urbanist"/>
              <a:ea typeface="Urbanist"/>
              <a:cs typeface="Urbanist"/>
              <a:sym typeface="Urbanist"/>
            </a:endParaRPr>
          </a:p>
          <a:p>
            <a:pPr indent="-304800" lvl="0" marL="457200" rtl="0" algn="l">
              <a:lnSpc>
                <a:spcPct val="115000"/>
              </a:lnSpc>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Fit a </a:t>
            </a:r>
            <a:r>
              <a:rPr b="1" lang="en" sz="1200">
                <a:solidFill>
                  <a:schemeClr val="lt1"/>
                </a:solidFill>
                <a:latin typeface="Urbanist"/>
                <a:ea typeface="Urbanist"/>
                <a:cs typeface="Urbanist"/>
                <a:sym typeface="Urbanist"/>
              </a:rPr>
              <a:t>Logistic Regression classifier</a:t>
            </a:r>
            <a:endParaRPr b="1"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Made predictions on the validation set</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Calculated </a:t>
            </a:r>
            <a:r>
              <a:rPr b="1" lang="en" sz="1200">
                <a:solidFill>
                  <a:schemeClr val="lt1"/>
                </a:solidFill>
                <a:latin typeface="Urbanist"/>
                <a:ea typeface="Urbanist"/>
                <a:cs typeface="Urbanist"/>
                <a:sym typeface="Urbanist"/>
              </a:rPr>
              <a:t>Accuracy</a:t>
            </a:r>
            <a:r>
              <a:rPr lang="en" sz="1200">
                <a:solidFill>
                  <a:schemeClr val="lt1"/>
                </a:solidFill>
                <a:latin typeface="Urbanist"/>
                <a:ea typeface="Urbanist"/>
                <a:cs typeface="Urbanist"/>
                <a:sym typeface="Urbanist"/>
              </a:rPr>
              <a:t>, </a:t>
            </a:r>
            <a:r>
              <a:rPr b="1" lang="en" sz="1200">
                <a:solidFill>
                  <a:schemeClr val="lt1"/>
                </a:solidFill>
                <a:latin typeface="Urbanist"/>
                <a:ea typeface="Urbanist"/>
                <a:cs typeface="Urbanist"/>
                <a:sym typeface="Urbanist"/>
              </a:rPr>
              <a:t>ROC Curve</a:t>
            </a:r>
            <a:r>
              <a:rPr lang="en" sz="1200">
                <a:solidFill>
                  <a:schemeClr val="lt1"/>
                </a:solidFill>
                <a:latin typeface="Urbanist"/>
                <a:ea typeface="Urbanist"/>
                <a:cs typeface="Urbanist"/>
                <a:sym typeface="Urbanist"/>
              </a:rPr>
              <a:t>, and </a:t>
            </a:r>
            <a:r>
              <a:rPr b="1" lang="en" sz="1200">
                <a:solidFill>
                  <a:schemeClr val="lt1"/>
                </a:solidFill>
                <a:latin typeface="Urbanist"/>
                <a:ea typeface="Urbanist"/>
                <a:cs typeface="Urbanist"/>
                <a:sym typeface="Urbanist"/>
              </a:rPr>
              <a:t>AUC score</a:t>
            </a:r>
            <a:endParaRPr b="1"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584" name="Google Shape;584;p50" title="4.png"/>
          <p:cNvPicPr preferRelativeResize="0"/>
          <p:nvPr/>
        </p:nvPicPr>
        <p:blipFill>
          <a:blip r:embed="rId3">
            <a:alphaModFix/>
          </a:blip>
          <a:stretch>
            <a:fillRect/>
          </a:stretch>
        </p:blipFill>
        <p:spPr>
          <a:xfrm>
            <a:off x="4548400" y="944200"/>
            <a:ext cx="4343400" cy="3647203"/>
          </a:xfrm>
          <a:prstGeom prst="rect">
            <a:avLst/>
          </a:prstGeom>
          <a:noFill/>
          <a:ln>
            <a:noFill/>
          </a:ln>
        </p:spPr>
      </p:pic>
      <p:sp>
        <p:nvSpPr>
          <p:cNvPr id="585" name="Google Shape;585;p50"/>
          <p:cNvSpPr txBox="1"/>
          <p:nvPr/>
        </p:nvSpPr>
        <p:spPr>
          <a:xfrm>
            <a:off x="200250" y="2924750"/>
            <a:ext cx="3328500" cy="7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200" u="sng">
                <a:solidFill>
                  <a:schemeClr val="lt1"/>
                </a:solidFill>
                <a:latin typeface="Urbanist"/>
                <a:ea typeface="Urbanist"/>
                <a:cs typeface="Urbanist"/>
                <a:sym typeface="Urbanist"/>
              </a:rPr>
              <a:t>Results:</a:t>
            </a:r>
            <a:endParaRPr b="1" i="1" sz="1200" u="sng">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Logistic Regression Accuracy: 0.7918</a:t>
            </a:r>
            <a:endParaRPr sz="1200">
              <a:solidFill>
                <a:schemeClr val="lt1"/>
              </a:solidFill>
              <a:latin typeface="Urbanist"/>
              <a:ea typeface="Urbanist"/>
              <a:cs typeface="Urbanist"/>
              <a:sym typeface="Urbanist"/>
            </a:endParaRPr>
          </a:p>
          <a:p>
            <a:pPr indent="0" lvl="0" marL="0" rtl="0" algn="l">
              <a:lnSpc>
                <a:spcPct val="130770"/>
              </a:lnSpc>
              <a:spcBef>
                <a:spcPts val="0"/>
              </a:spcBef>
              <a:spcAft>
                <a:spcPts val="0"/>
              </a:spcAft>
              <a:buClr>
                <a:schemeClr val="dk1"/>
              </a:buClr>
              <a:buSzPts val="1100"/>
              <a:buFont typeface="Arial"/>
              <a:buNone/>
            </a:pPr>
            <a:r>
              <a:rPr lang="en" sz="1200">
                <a:solidFill>
                  <a:schemeClr val="lt1"/>
                </a:solidFill>
                <a:latin typeface="Urbanist"/>
                <a:ea typeface="Urbanist"/>
                <a:cs typeface="Urbanist"/>
                <a:sym typeface="Urbanist"/>
              </a:rPr>
              <a:t>Logistic Regression AUC: 0.8815</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Decision Tree Model</a:t>
            </a:r>
            <a:endParaRPr>
              <a:solidFill>
                <a:schemeClr val="accent3"/>
              </a:solidFill>
            </a:endParaRPr>
          </a:p>
        </p:txBody>
      </p:sp>
      <p:sp>
        <p:nvSpPr>
          <p:cNvPr id="591" name="Google Shape;591;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 - Build and evaluate a Decision Tree Classifier to predict whether a passenger was transported or not.</a:t>
            </a:r>
            <a:endParaRPr/>
          </a:p>
          <a:p>
            <a:pPr indent="0" lvl="0" marL="0" rtl="0" algn="l">
              <a:spcBef>
                <a:spcPts val="0"/>
              </a:spcBef>
              <a:spcAft>
                <a:spcPts val="0"/>
              </a:spcAft>
              <a:buNone/>
            </a:pPr>
            <a:r>
              <a:t/>
            </a:r>
            <a:endParaRPr/>
          </a:p>
          <a:p>
            <a:pPr indent="-304800" lvl="0" marL="457200" rtl="0" algn="l">
              <a:spcBef>
                <a:spcPts val="0"/>
              </a:spcBef>
              <a:spcAft>
                <a:spcPts val="0"/>
              </a:spcAft>
              <a:buSzPts val="1200"/>
              <a:buChar char="●"/>
            </a:pPr>
            <a:r>
              <a:rPr lang="en"/>
              <a:t>The decision tree was one of the models used for this project because it is easy to interpret, fast at training, and can work well with multiple different feature types such as boolean, numeric, categorical, object. </a:t>
            </a:r>
            <a:endParaRPr/>
          </a:p>
          <a:p>
            <a:pPr indent="-304800" lvl="0" marL="457200" rtl="0" algn="l">
              <a:spcBef>
                <a:spcPts val="0"/>
              </a:spcBef>
              <a:spcAft>
                <a:spcPts val="0"/>
              </a:spcAft>
              <a:buSzPts val="1200"/>
              <a:buChar char="●"/>
            </a:pPr>
            <a:r>
              <a:rPr lang="en"/>
              <a:t>We made sure to convert boolean values into strings and Label Encoded all categorical columns. </a:t>
            </a:r>
            <a:endParaRPr/>
          </a:p>
          <a:p>
            <a:pPr indent="-304800" lvl="0" marL="457200" rtl="0" algn="l">
              <a:spcBef>
                <a:spcPts val="0"/>
              </a:spcBef>
              <a:spcAft>
                <a:spcPts val="0"/>
              </a:spcAft>
              <a:buSzPts val="1200"/>
              <a:buChar char="●"/>
            </a:pPr>
            <a:r>
              <a:rPr lang="en"/>
              <a:t>Train/Test split (80/20)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92" name="Google Shape;592;p51" title="Screenshot 2025-12-06 170208.png"/>
          <p:cNvPicPr preferRelativeResize="0"/>
          <p:nvPr/>
        </p:nvPicPr>
        <p:blipFill>
          <a:blip r:embed="rId3">
            <a:alphaModFix/>
          </a:blip>
          <a:stretch>
            <a:fillRect/>
          </a:stretch>
        </p:blipFill>
        <p:spPr>
          <a:xfrm>
            <a:off x="4965950" y="2275107"/>
            <a:ext cx="3866351" cy="260336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Decision Tree Results</a:t>
            </a:r>
            <a:endParaRPr>
              <a:solidFill>
                <a:schemeClr val="accent3"/>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98" name="Google Shape;598;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DecisionTreeClassifier(random_state=42)</a:t>
            </a:r>
            <a:endParaRPr/>
          </a:p>
          <a:p>
            <a:pPr indent="0" lvl="0" marL="0" rtl="0" algn="l">
              <a:spcBef>
                <a:spcPts val="0"/>
              </a:spcBef>
              <a:spcAft>
                <a:spcPts val="0"/>
              </a:spcAft>
              <a:buNone/>
            </a:pPr>
            <a:r>
              <a:t/>
            </a:r>
            <a:endParaRPr/>
          </a:p>
          <a:p>
            <a:pPr indent="-304800" lvl="0" marL="457200" rtl="0" algn="l">
              <a:spcBef>
                <a:spcPts val="0"/>
              </a:spcBef>
              <a:spcAft>
                <a:spcPts val="0"/>
              </a:spcAft>
              <a:buSzPts val="1200"/>
              <a:buChar char="●"/>
            </a:pPr>
            <a:r>
              <a:rPr lang="en"/>
              <a:t>Accuracy of Decision Tree model:</a:t>
            </a:r>
            <a:r>
              <a:rPr lang="en"/>
              <a:t> 0.7343300747556066. (Estimate = .73)</a:t>
            </a:r>
            <a:endParaRPr/>
          </a:p>
          <a:p>
            <a:pPr indent="-304800" lvl="0" marL="457200" rtl="0" algn="l">
              <a:spcBef>
                <a:spcPts val="0"/>
              </a:spcBef>
              <a:spcAft>
                <a:spcPts val="0"/>
              </a:spcAft>
              <a:buSzPts val="1200"/>
              <a:buChar char="●"/>
            </a:pPr>
            <a:r>
              <a:rPr lang="en"/>
              <a:t>Area under the curve (AUC) Score: 0.7341585114516943. (Estimate = .73)</a:t>
            </a:r>
            <a:endParaRPr/>
          </a:p>
          <a:p>
            <a:pPr indent="-304800" lvl="0" marL="457200" rtl="0" algn="l">
              <a:spcBef>
                <a:spcPts val="0"/>
              </a:spcBef>
              <a:spcAft>
                <a:spcPts val="0"/>
              </a:spcAft>
              <a:buSzPts val="1200"/>
              <a:buChar char="●"/>
            </a:pPr>
            <a:r>
              <a:rPr lang="en"/>
              <a:t>Receiver-operating characteristic curve (ROC): </a:t>
            </a:r>
            <a:endParaRPr/>
          </a:p>
          <a:p>
            <a:pPr indent="0" lvl="0" marL="0" rtl="0" algn="l">
              <a:spcBef>
                <a:spcPts val="0"/>
              </a:spcBef>
              <a:spcAft>
                <a:spcPts val="0"/>
              </a:spcAft>
              <a:buNone/>
            </a:pPr>
            <a:r>
              <a:t/>
            </a:r>
            <a:endParaRPr/>
          </a:p>
        </p:txBody>
      </p:sp>
      <p:pic>
        <p:nvPicPr>
          <p:cNvPr id="599" name="Google Shape;599;p52" title="Screenshot 2025-12-06 170933.png"/>
          <p:cNvPicPr preferRelativeResize="0"/>
          <p:nvPr/>
        </p:nvPicPr>
        <p:blipFill>
          <a:blip r:embed="rId3">
            <a:alphaModFix/>
          </a:blip>
          <a:stretch>
            <a:fillRect/>
          </a:stretch>
        </p:blipFill>
        <p:spPr>
          <a:xfrm>
            <a:off x="5923624" y="2178025"/>
            <a:ext cx="2840550" cy="2685225"/>
          </a:xfrm>
          <a:prstGeom prst="rect">
            <a:avLst/>
          </a:prstGeom>
          <a:noFill/>
          <a:ln>
            <a:noFill/>
          </a:ln>
        </p:spPr>
      </p:pic>
      <p:pic>
        <p:nvPicPr>
          <p:cNvPr id="600" name="Google Shape;600;p52" title="Screenshot 2025-12-06 171510.png"/>
          <p:cNvPicPr preferRelativeResize="0"/>
          <p:nvPr/>
        </p:nvPicPr>
        <p:blipFill>
          <a:blip r:embed="rId4">
            <a:alphaModFix/>
          </a:blip>
          <a:stretch>
            <a:fillRect/>
          </a:stretch>
        </p:blipFill>
        <p:spPr>
          <a:xfrm>
            <a:off x="5890050" y="206075"/>
            <a:ext cx="2994050" cy="1334975"/>
          </a:xfrm>
          <a:prstGeom prst="rect">
            <a:avLst/>
          </a:prstGeom>
          <a:noFill/>
          <a:ln>
            <a:noFill/>
          </a:ln>
        </p:spPr>
      </p:pic>
      <p:pic>
        <p:nvPicPr>
          <p:cNvPr id="601" name="Google Shape;601;p52" title="Screenshot 2025-12-06 171716.png"/>
          <p:cNvPicPr preferRelativeResize="0"/>
          <p:nvPr/>
        </p:nvPicPr>
        <p:blipFill>
          <a:blip r:embed="rId5">
            <a:alphaModFix/>
          </a:blip>
          <a:stretch>
            <a:fillRect/>
          </a:stretch>
        </p:blipFill>
        <p:spPr>
          <a:xfrm>
            <a:off x="390088" y="2805775"/>
            <a:ext cx="3471574" cy="1803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3"/>
          <p:cNvSpPr txBox="1"/>
          <p:nvPr>
            <p:ph type="title"/>
          </p:nvPr>
        </p:nvSpPr>
        <p:spPr>
          <a:xfrm>
            <a:off x="252000" y="457200"/>
            <a:ext cx="4343400" cy="59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400">
                <a:solidFill>
                  <a:schemeClr val="accent3"/>
                </a:solidFill>
              </a:rPr>
              <a:t>Random Forest Model</a:t>
            </a:r>
            <a:endParaRPr sz="2400">
              <a:solidFill>
                <a:schemeClr val="accent3"/>
              </a:solidFill>
            </a:endParaRPr>
          </a:p>
        </p:txBody>
      </p:sp>
      <p:sp>
        <p:nvSpPr>
          <p:cNvPr id="607" name="Google Shape;607;p53"/>
          <p:cNvSpPr txBox="1"/>
          <p:nvPr/>
        </p:nvSpPr>
        <p:spPr>
          <a:xfrm>
            <a:off x="294150" y="1097250"/>
            <a:ext cx="4259100" cy="130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Using this model we:</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Trained a Random Forest Classifier using the same encoded dataset </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Combined many decision trees to improve accuracy</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Made predictions and computed Accuracy, ROC, and AUC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608" name="Google Shape;608;p53"/>
          <p:cNvSpPr txBox="1"/>
          <p:nvPr/>
        </p:nvSpPr>
        <p:spPr>
          <a:xfrm>
            <a:off x="266050" y="2680150"/>
            <a:ext cx="3328500" cy="7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200" u="sng">
                <a:solidFill>
                  <a:schemeClr val="lt1"/>
                </a:solidFill>
                <a:latin typeface="Urbanist"/>
                <a:ea typeface="Urbanist"/>
                <a:cs typeface="Urbanist"/>
                <a:sym typeface="Urbanist"/>
              </a:rPr>
              <a:t>Results:</a:t>
            </a:r>
            <a:endParaRPr b="1" i="1" sz="1200" u="sng">
              <a:solidFill>
                <a:schemeClr val="lt1"/>
              </a:solidFill>
              <a:latin typeface="Urbanist"/>
              <a:ea typeface="Urbanist"/>
              <a:cs typeface="Urbanist"/>
              <a:sym typeface="Urbanist"/>
            </a:endParaRPr>
          </a:p>
          <a:p>
            <a:pPr indent="0" lvl="0" marL="0" rtl="0" algn="l">
              <a:lnSpc>
                <a:spcPct val="130770"/>
              </a:lnSpc>
              <a:spcBef>
                <a:spcPts val="0"/>
              </a:spcBef>
              <a:spcAft>
                <a:spcPts val="0"/>
              </a:spcAft>
              <a:buNone/>
            </a:pPr>
            <a:r>
              <a:rPr lang="en" sz="1200">
                <a:solidFill>
                  <a:schemeClr val="lt1"/>
                </a:solidFill>
                <a:latin typeface="Urbanist"/>
                <a:ea typeface="Urbanist"/>
                <a:cs typeface="Urbanist"/>
                <a:sym typeface="Urbanist"/>
              </a:rPr>
              <a:t>Random Forest Accuracy: 0.8085</a:t>
            </a:r>
            <a:endParaRPr sz="1200">
              <a:solidFill>
                <a:schemeClr val="lt1"/>
              </a:solidFill>
              <a:latin typeface="Urbanist"/>
              <a:ea typeface="Urbanist"/>
              <a:cs typeface="Urbanist"/>
              <a:sym typeface="Urbanist"/>
            </a:endParaRPr>
          </a:p>
          <a:p>
            <a:pPr indent="0" lvl="0" marL="0" rtl="0" algn="l">
              <a:lnSpc>
                <a:spcPct val="130770"/>
              </a:lnSpc>
              <a:spcBef>
                <a:spcPts val="0"/>
              </a:spcBef>
              <a:spcAft>
                <a:spcPts val="0"/>
              </a:spcAft>
              <a:buNone/>
            </a:pPr>
            <a:r>
              <a:rPr lang="en" sz="1200">
                <a:solidFill>
                  <a:schemeClr val="lt1"/>
                </a:solidFill>
                <a:latin typeface="Urbanist"/>
                <a:ea typeface="Urbanist"/>
                <a:cs typeface="Urbanist"/>
                <a:sym typeface="Urbanist"/>
              </a:rPr>
              <a:t>Random Forest AUC: 0.8931</a:t>
            </a:r>
            <a:endParaRPr sz="1200">
              <a:solidFill>
                <a:schemeClr val="lt1"/>
              </a:solidFill>
              <a:latin typeface="Urbanist"/>
              <a:ea typeface="Urbanist"/>
              <a:cs typeface="Urbanist"/>
              <a:sym typeface="Urbanist"/>
            </a:endParaRPr>
          </a:p>
        </p:txBody>
      </p:sp>
      <p:pic>
        <p:nvPicPr>
          <p:cNvPr id="609" name="Google Shape;609;p53" title="6.png"/>
          <p:cNvPicPr preferRelativeResize="0"/>
          <p:nvPr/>
        </p:nvPicPr>
        <p:blipFill>
          <a:blip r:embed="rId3">
            <a:alphaModFix/>
          </a:blip>
          <a:stretch>
            <a:fillRect/>
          </a:stretch>
        </p:blipFill>
        <p:spPr>
          <a:xfrm>
            <a:off x="5400675" y="1189825"/>
            <a:ext cx="3514725" cy="3343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descr="Oval black shapes against a shadowy background. " id="614" name="Google Shape;614;p54"/>
          <p:cNvPicPr preferRelativeResize="0"/>
          <p:nvPr/>
        </p:nvPicPr>
        <p:blipFill rotWithShape="1">
          <a:blip r:embed="rId3">
            <a:alphaModFix/>
          </a:blip>
          <a:srcRect b="50284" l="35228" r="7528" t="-4323"/>
          <a:stretch/>
        </p:blipFill>
        <p:spPr>
          <a:xfrm>
            <a:off x="555600" y="304875"/>
            <a:ext cx="8032800" cy="4266300"/>
          </a:xfrm>
          <a:prstGeom prst="roundRect">
            <a:avLst>
              <a:gd fmla="val 6189" name="adj"/>
            </a:avLst>
          </a:prstGeom>
          <a:noFill/>
          <a:ln cap="flat" cmpd="sng" w="9525">
            <a:solidFill>
              <a:schemeClr val="accent1"/>
            </a:solidFill>
            <a:prstDash val="solid"/>
            <a:round/>
            <a:headEnd len="sm" w="sm" type="none"/>
            <a:tailEnd len="sm" w="sm" type="none"/>
          </a:ln>
        </p:spPr>
      </p:pic>
      <p:grpSp>
        <p:nvGrpSpPr>
          <p:cNvPr id="615" name="Google Shape;615;p54"/>
          <p:cNvGrpSpPr/>
          <p:nvPr/>
        </p:nvGrpSpPr>
        <p:grpSpPr>
          <a:xfrm>
            <a:off x="731125" y="457195"/>
            <a:ext cx="1742332" cy="338705"/>
            <a:chOff x="284700" y="4135245"/>
            <a:chExt cx="1742332" cy="338705"/>
          </a:xfrm>
        </p:grpSpPr>
        <p:sp>
          <p:nvSpPr>
            <p:cNvPr id="616" name="Google Shape;616;p54"/>
            <p:cNvSpPr/>
            <p:nvPr/>
          </p:nvSpPr>
          <p:spPr>
            <a:xfrm>
              <a:off x="284700" y="4135250"/>
              <a:ext cx="1399200" cy="3387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Urbanist Medium"/>
                  <a:ea typeface="Urbanist Medium"/>
                  <a:cs typeface="Urbanist Medium"/>
                  <a:sym typeface="Urbanist Medium"/>
                </a:rPr>
                <a:t>Models</a:t>
              </a:r>
              <a:endParaRPr sz="1000">
                <a:solidFill>
                  <a:schemeClr val="dk1"/>
                </a:solidFill>
                <a:latin typeface="Urbanist Medium"/>
                <a:ea typeface="Urbanist Medium"/>
                <a:cs typeface="Urbanist Medium"/>
                <a:sym typeface="Urbanist Medium"/>
              </a:endParaRPr>
            </a:p>
          </p:txBody>
        </p:sp>
        <p:grpSp>
          <p:nvGrpSpPr>
            <p:cNvPr id="617" name="Google Shape;617;p54"/>
            <p:cNvGrpSpPr/>
            <p:nvPr/>
          </p:nvGrpSpPr>
          <p:grpSpPr>
            <a:xfrm>
              <a:off x="1688332" y="4135245"/>
              <a:ext cx="338700" cy="338700"/>
              <a:chOff x="1688332" y="4135245"/>
              <a:chExt cx="338700" cy="338700"/>
            </a:xfrm>
          </p:grpSpPr>
          <p:sp>
            <p:nvSpPr>
              <p:cNvPr id="618" name="Google Shape;618;p54"/>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619" name="Google Shape;619;p54"/>
              <p:cNvGrpSpPr/>
              <p:nvPr/>
            </p:nvGrpSpPr>
            <p:grpSpPr>
              <a:xfrm rot="-5400000">
                <a:off x="1787014" y="4262191"/>
                <a:ext cx="169598" cy="84809"/>
                <a:chOff x="498725" y="2069800"/>
                <a:chExt cx="205200" cy="102600"/>
              </a:xfrm>
            </p:grpSpPr>
            <p:cxnSp>
              <p:nvCxnSpPr>
                <p:cNvPr id="620" name="Google Shape;620;p54"/>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621" name="Google Shape;621;p54"/>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grpSp>
      <p:sp>
        <p:nvSpPr>
          <p:cNvPr id="622" name="Google Shape;622;p54"/>
          <p:cNvSpPr txBox="1"/>
          <p:nvPr/>
        </p:nvSpPr>
        <p:spPr>
          <a:xfrm>
            <a:off x="2573250" y="2079150"/>
            <a:ext cx="40914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Urbanist"/>
                <a:ea typeface="Urbanist"/>
                <a:cs typeface="Urbanist"/>
                <a:sym typeface="Urbanist"/>
              </a:rPr>
              <a:t>    	     </a:t>
            </a:r>
            <a:r>
              <a:rPr lang="en" sz="1300">
                <a:solidFill>
                  <a:schemeClr val="accent3"/>
                </a:solidFill>
                <a:latin typeface="Urbanist"/>
                <a:ea typeface="Urbanist"/>
                <a:cs typeface="Urbanist"/>
                <a:sym typeface="Urbanist"/>
              </a:rPr>
              <a:t>MODEL PERFORMANCE SUMMARY</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Logistic Regression: 	Accuracy=0.792, AUC=0.881</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Decision Tree:       		Accuracy=0.784, AUC=0.859</a:t>
            </a:r>
            <a:endParaRPr sz="1300">
              <a:solidFill>
                <a:schemeClr val="lt1"/>
              </a:solidFill>
              <a:latin typeface="Urbanist"/>
              <a:ea typeface="Urbanist"/>
              <a:cs typeface="Urbanist"/>
              <a:sym typeface="Urbanist"/>
            </a:endParaRPr>
          </a:p>
          <a:p>
            <a:pPr indent="0" lvl="0" marL="0" rtl="0" algn="l">
              <a:lnSpc>
                <a:spcPct val="130770"/>
              </a:lnSpc>
              <a:spcBef>
                <a:spcPts val="0"/>
              </a:spcBef>
              <a:spcAft>
                <a:spcPts val="0"/>
              </a:spcAft>
              <a:buNone/>
            </a:pPr>
            <a:r>
              <a:rPr lang="en" sz="1300">
                <a:solidFill>
                  <a:schemeClr val="lt1"/>
                </a:solidFill>
                <a:latin typeface="Urbanist"/>
                <a:ea typeface="Urbanist"/>
                <a:cs typeface="Urbanist"/>
                <a:sym typeface="Urbanist"/>
              </a:rPr>
              <a:t>Random Forest:       	Accuracy=0.809, AUC=0.893</a:t>
            </a:r>
            <a:endParaRPr sz="1300">
              <a:solidFill>
                <a:schemeClr val="lt1"/>
              </a:solidFill>
              <a:latin typeface="Urbanist"/>
              <a:ea typeface="Urbanist"/>
              <a:cs typeface="Urbanist"/>
              <a:sym typeface="Urbanis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55"/>
          <p:cNvSpPr txBox="1"/>
          <p:nvPr>
            <p:ph idx="19" type="title"/>
          </p:nvPr>
        </p:nvSpPr>
        <p:spPr>
          <a:xfrm>
            <a:off x="228600" y="150425"/>
            <a:ext cx="48852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accent3"/>
                </a:solidFill>
              </a:rPr>
              <a:t>ROC Curve </a:t>
            </a:r>
            <a:r>
              <a:rPr lang="en">
                <a:solidFill>
                  <a:schemeClr val="accent3"/>
                </a:solidFill>
              </a:rPr>
              <a:t>Comparison</a:t>
            </a:r>
            <a:endParaRPr>
              <a:solidFill>
                <a:schemeClr val="accent3"/>
              </a:solidFill>
            </a:endParaRPr>
          </a:p>
        </p:txBody>
      </p:sp>
      <p:pic>
        <p:nvPicPr>
          <p:cNvPr id="628" name="Google Shape;628;p55" title="download.png"/>
          <p:cNvPicPr preferRelativeResize="0"/>
          <p:nvPr/>
        </p:nvPicPr>
        <p:blipFill>
          <a:blip r:embed="rId3">
            <a:alphaModFix/>
          </a:blip>
          <a:stretch>
            <a:fillRect/>
          </a:stretch>
        </p:blipFill>
        <p:spPr>
          <a:xfrm>
            <a:off x="228600" y="969752"/>
            <a:ext cx="4885201" cy="3603548"/>
          </a:xfrm>
          <a:prstGeom prst="rect">
            <a:avLst/>
          </a:prstGeom>
          <a:noFill/>
          <a:ln>
            <a:noFill/>
          </a:ln>
        </p:spPr>
      </p:pic>
      <p:sp>
        <p:nvSpPr>
          <p:cNvPr id="629" name="Google Shape;629;p55"/>
          <p:cNvSpPr txBox="1"/>
          <p:nvPr/>
        </p:nvSpPr>
        <p:spPr>
          <a:xfrm>
            <a:off x="5989350" y="877200"/>
            <a:ext cx="2700000" cy="1018200"/>
          </a:xfrm>
          <a:prstGeom prst="rect">
            <a:avLst/>
          </a:prstGeom>
          <a:noFill/>
          <a:ln>
            <a:noFill/>
          </a:ln>
        </p:spPr>
        <p:txBody>
          <a:bodyPr anchorCtr="0" anchor="t" bIns="91425" lIns="91425" spcFirstLastPara="1" rIns="91425" wrap="square" tIns="91425">
            <a:spAutoFit/>
          </a:bodyPr>
          <a:lstStyle/>
          <a:p>
            <a:pPr indent="0" lvl="0" marL="0" rtl="0" algn="ctr">
              <a:lnSpc>
                <a:spcPct val="130770"/>
              </a:lnSpc>
              <a:spcBef>
                <a:spcPts val="0"/>
              </a:spcBef>
              <a:spcAft>
                <a:spcPts val="0"/>
              </a:spcAft>
              <a:buNone/>
            </a:pPr>
            <a:r>
              <a:rPr lang="en" sz="1100">
                <a:solidFill>
                  <a:schemeClr val="accent3"/>
                </a:solidFill>
                <a:latin typeface="Urbanist"/>
                <a:ea typeface="Urbanist"/>
                <a:cs typeface="Urbanist"/>
                <a:sym typeface="Urbanist"/>
              </a:rPr>
              <a:t>CROSS-VALIDATION SCORES</a:t>
            </a:r>
            <a:endParaRPr sz="1100">
              <a:solidFill>
                <a:schemeClr val="accent3"/>
              </a:solidFill>
              <a:latin typeface="Urbanist"/>
              <a:ea typeface="Urbanist"/>
              <a:cs typeface="Urbanist"/>
              <a:sym typeface="Urbanist"/>
            </a:endParaRPr>
          </a:p>
          <a:p>
            <a:pPr indent="0" lvl="0" marL="0" rtl="0" algn="ctr">
              <a:lnSpc>
                <a:spcPct val="130770"/>
              </a:lnSpc>
              <a:spcBef>
                <a:spcPts val="0"/>
              </a:spcBef>
              <a:spcAft>
                <a:spcPts val="0"/>
              </a:spcAft>
              <a:buNone/>
            </a:pPr>
            <a:r>
              <a:rPr lang="en" sz="1100">
                <a:solidFill>
                  <a:schemeClr val="lt1"/>
                </a:solidFill>
                <a:latin typeface="Urbanist"/>
                <a:ea typeface="Urbanist"/>
                <a:cs typeface="Urbanist"/>
                <a:sym typeface="Urbanist"/>
              </a:rPr>
              <a:t>Logistic Regression CV Accuracy: 0.7872</a:t>
            </a:r>
            <a:endParaRPr sz="1100">
              <a:solidFill>
                <a:schemeClr val="lt1"/>
              </a:solidFill>
              <a:latin typeface="Urbanist"/>
              <a:ea typeface="Urbanist"/>
              <a:cs typeface="Urbanist"/>
              <a:sym typeface="Urbanist"/>
            </a:endParaRPr>
          </a:p>
          <a:p>
            <a:pPr indent="0" lvl="0" marL="0" rtl="0" algn="ctr">
              <a:lnSpc>
                <a:spcPct val="130770"/>
              </a:lnSpc>
              <a:spcBef>
                <a:spcPts val="0"/>
              </a:spcBef>
              <a:spcAft>
                <a:spcPts val="0"/>
              </a:spcAft>
              <a:buNone/>
            </a:pPr>
            <a:r>
              <a:rPr lang="en" sz="1100">
                <a:solidFill>
                  <a:schemeClr val="lt1"/>
                </a:solidFill>
                <a:latin typeface="Urbanist"/>
                <a:ea typeface="Urbanist"/>
                <a:cs typeface="Urbanist"/>
                <a:sym typeface="Urbanist"/>
              </a:rPr>
              <a:t>Decision Tree CV Accuracy: 0.759</a:t>
            </a:r>
            <a:endParaRPr sz="1100">
              <a:solidFill>
                <a:schemeClr val="lt1"/>
              </a:solidFill>
              <a:latin typeface="Urbanist"/>
              <a:ea typeface="Urbanist"/>
              <a:cs typeface="Urbanist"/>
              <a:sym typeface="Urbanist"/>
            </a:endParaRPr>
          </a:p>
          <a:p>
            <a:pPr indent="0" lvl="0" marL="0" rtl="0" algn="ctr">
              <a:lnSpc>
                <a:spcPct val="130770"/>
              </a:lnSpc>
              <a:spcBef>
                <a:spcPts val="0"/>
              </a:spcBef>
              <a:spcAft>
                <a:spcPts val="0"/>
              </a:spcAft>
              <a:buNone/>
            </a:pPr>
            <a:r>
              <a:rPr lang="en" sz="1100">
                <a:solidFill>
                  <a:schemeClr val="lt1"/>
                </a:solidFill>
                <a:latin typeface="Urbanist"/>
                <a:ea typeface="Urbanist"/>
                <a:cs typeface="Urbanist"/>
                <a:sym typeface="Urbanist"/>
              </a:rPr>
              <a:t>Random Forest CV Accuracy: 0.7851</a:t>
            </a:r>
            <a:endParaRPr sz="1100">
              <a:solidFill>
                <a:schemeClr val="lt1"/>
              </a:solidFill>
              <a:latin typeface="Urbanist"/>
              <a:ea typeface="Urbanist"/>
              <a:cs typeface="Urbanist"/>
              <a:sym typeface="Urbanis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pic>
        <p:nvPicPr>
          <p:cNvPr descr="Oval black shapes against a shadowy background. " id="634" name="Google Shape;634;p56"/>
          <p:cNvPicPr preferRelativeResize="0"/>
          <p:nvPr/>
        </p:nvPicPr>
        <p:blipFill rotWithShape="1">
          <a:blip r:embed="rId3">
            <a:alphaModFix/>
          </a:blip>
          <a:srcRect b="50284" l="35228" r="7528" t="-4323"/>
          <a:stretch/>
        </p:blipFill>
        <p:spPr>
          <a:xfrm>
            <a:off x="0" y="-695825"/>
            <a:ext cx="9144000" cy="4856700"/>
          </a:xfrm>
          <a:prstGeom prst="roundRect">
            <a:avLst>
              <a:gd fmla="val 6189" name="adj"/>
            </a:avLst>
          </a:prstGeom>
          <a:noFill/>
          <a:ln cap="flat" cmpd="sng" w="9525">
            <a:solidFill>
              <a:schemeClr val="accent1"/>
            </a:solidFill>
            <a:prstDash val="solid"/>
            <a:round/>
            <a:headEnd len="sm" w="sm" type="none"/>
            <a:tailEnd len="sm" w="sm" type="none"/>
          </a:ln>
        </p:spPr>
      </p:pic>
      <p:pic>
        <p:nvPicPr>
          <p:cNvPr id="635" name="Google Shape;635;p56" title="download.png"/>
          <p:cNvPicPr preferRelativeResize="0"/>
          <p:nvPr/>
        </p:nvPicPr>
        <p:blipFill>
          <a:blip r:embed="rId4">
            <a:alphaModFix/>
          </a:blip>
          <a:stretch>
            <a:fillRect/>
          </a:stretch>
        </p:blipFill>
        <p:spPr>
          <a:xfrm>
            <a:off x="0" y="2405775"/>
            <a:ext cx="4525050" cy="2730300"/>
          </a:xfrm>
          <a:prstGeom prst="rect">
            <a:avLst/>
          </a:prstGeom>
          <a:noFill/>
          <a:ln>
            <a:noFill/>
          </a:ln>
        </p:spPr>
      </p:pic>
      <p:pic>
        <p:nvPicPr>
          <p:cNvPr id="636" name="Google Shape;636;p56" title="download.png"/>
          <p:cNvPicPr preferRelativeResize="0"/>
          <p:nvPr/>
        </p:nvPicPr>
        <p:blipFill>
          <a:blip r:embed="rId5">
            <a:alphaModFix/>
          </a:blip>
          <a:stretch>
            <a:fillRect/>
          </a:stretch>
        </p:blipFill>
        <p:spPr>
          <a:xfrm>
            <a:off x="4525050" y="2405775"/>
            <a:ext cx="4618951" cy="2730300"/>
          </a:xfrm>
          <a:prstGeom prst="rect">
            <a:avLst/>
          </a:prstGeom>
          <a:noFill/>
          <a:ln>
            <a:noFill/>
          </a:ln>
        </p:spPr>
      </p:pic>
      <p:sp>
        <p:nvSpPr>
          <p:cNvPr id="637" name="Google Shape;637;p56"/>
          <p:cNvSpPr/>
          <p:nvPr/>
        </p:nvSpPr>
        <p:spPr>
          <a:xfrm flipH="1">
            <a:off x="2941050" y="721225"/>
            <a:ext cx="3472800" cy="1114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solidFill>
                  <a:schemeClr val="dk1"/>
                </a:solidFill>
                <a:latin typeface="Georgia"/>
                <a:ea typeface="Georgia"/>
                <a:cs typeface="Georgia"/>
                <a:sym typeface="Georgia"/>
              </a:rPr>
              <a:t>Feature Importance Plots</a:t>
            </a:r>
            <a:endParaRPr b="1" sz="1700">
              <a:solidFill>
                <a:schemeClr val="dk1"/>
              </a:solidFill>
              <a:latin typeface="Georgia"/>
              <a:ea typeface="Georgia"/>
              <a:cs typeface="Georgia"/>
              <a:sym typeface="Georg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7"/>
          <p:cNvSpPr/>
          <p:nvPr/>
        </p:nvSpPr>
        <p:spPr>
          <a:xfrm>
            <a:off x="6080700" y="228600"/>
            <a:ext cx="2835000" cy="2062800"/>
          </a:xfrm>
          <a:prstGeom prst="roundRect">
            <a:avLst>
              <a:gd fmla="val 1185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chemeClr val="dk1"/>
              </a:solidFill>
              <a:latin typeface="Urbanist"/>
              <a:ea typeface="Urbanist"/>
              <a:cs typeface="Urbanist"/>
              <a:sym typeface="Urbanist"/>
            </a:endParaRPr>
          </a:p>
        </p:txBody>
      </p:sp>
      <p:sp>
        <p:nvSpPr>
          <p:cNvPr id="643" name="Google Shape;643;p57"/>
          <p:cNvSpPr/>
          <p:nvPr/>
        </p:nvSpPr>
        <p:spPr>
          <a:xfrm>
            <a:off x="3154500" y="228600"/>
            <a:ext cx="2835000" cy="2062800"/>
          </a:xfrm>
          <a:prstGeom prst="roundRect">
            <a:avLst>
              <a:gd fmla="val 1230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44" name="Google Shape;644;p57"/>
          <p:cNvSpPr/>
          <p:nvPr/>
        </p:nvSpPr>
        <p:spPr>
          <a:xfrm>
            <a:off x="4663200" y="2453441"/>
            <a:ext cx="2835000" cy="2062800"/>
          </a:xfrm>
          <a:prstGeom prst="roundRect">
            <a:avLst>
              <a:gd fmla="val 1087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45" name="Google Shape;645;p57"/>
          <p:cNvSpPr/>
          <p:nvPr/>
        </p:nvSpPr>
        <p:spPr>
          <a:xfrm flipH="1">
            <a:off x="4858700" y="259650"/>
            <a:ext cx="1093800" cy="4938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900">
                <a:solidFill>
                  <a:schemeClr val="dk1"/>
                </a:solidFill>
                <a:latin typeface="Urbanist"/>
                <a:ea typeface="Urbanist"/>
                <a:cs typeface="Urbanist"/>
                <a:sym typeface="Urbanist"/>
              </a:rPr>
              <a:t>Accuracy=0.79</a:t>
            </a:r>
            <a:endParaRPr b="1" sz="900">
              <a:solidFill>
                <a:schemeClr val="dk1"/>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rPr b="1" lang="en" sz="900">
                <a:solidFill>
                  <a:schemeClr val="dk1"/>
                </a:solidFill>
                <a:latin typeface="Urbanist"/>
                <a:ea typeface="Urbanist"/>
                <a:cs typeface="Urbanist"/>
                <a:sym typeface="Urbanist"/>
              </a:rPr>
              <a:t>AUC=0.881</a:t>
            </a:r>
            <a:endParaRPr b="1" sz="900">
              <a:solidFill>
                <a:schemeClr val="dk1"/>
              </a:solidFill>
              <a:latin typeface="Urbanist"/>
              <a:ea typeface="Urbanist"/>
              <a:cs typeface="Urbanist"/>
              <a:sym typeface="Urbanist"/>
            </a:endParaRPr>
          </a:p>
        </p:txBody>
      </p:sp>
      <p:sp>
        <p:nvSpPr>
          <p:cNvPr id="646" name="Google Shape;646;p57"/>
          <p:cNvSpPr txBox="1"/>
          <p:nvPr>
            <p:ph idx="4" type="title"/>
          </p:nvPr>
        </p:nvSpPr>
        <p:spPr>
          <a:xfrm>
            <a:off x="3308400" y="259650"/>
            <a:ext cx="1263600" cy="5559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t>Logistic Regression</a:t>
            </a:r>
            <a:endParaRPr/>
          </a:p>
        </p:txBody>
      </p:sp>
      <p:sp>
        <p:nvSpPr>
          <p:cNvPr id="647" name="Google Shape;647;p57"/>
          <p:cNvSpPr txBox="1"/>
          <p:nvPr>
            <p:ph idx="6" type="subTitle"/>
          </p:nvPr>
        </p:nvSpPr>
        <p:spPr>
          <a:xfrm>
            <a:off x="3281700" y="784500"/>
            <a:ext cx="2444700" cy="1476000"/>
          </a:xfrm>
          <a:prstGeom prst="rect">
            <a:avLst/>
          </a:prstGeom>
        </p:spPr>
        <p:txBody>
          <a:bodyPr anchorCtr="0" anchor="t" bIns="91425" lIns="0" spcFirstLastPara="1" rIns="91425" wrap="square" tIns="0">
            <a:noAutofit/>
          </a:bodyPr>
          <a:lstStyle/>
          <a:p>
            <a:pPr indent="-323850" lvl="0" marL="457200" rtl="0" algn="l">
              <a:spcBef>
                <a:spcPts val="0"/>
              </a:spcBef>
              <a:spcAft>
                <a:spcPts val="0"/>
              </a:spcAft>
              <a:buClr>
                <a:schemeClr val="lt1"/>
              </a:buClr>
              <a:buSzPts val="1500"/>
              <a:buFont typeface="Urbanist"/>
              <a:buChar char="❏"/>
            </a:pPr>
            <a:r>
              <a:rPr lang="en" sz="900">
                <a:solidFill>
                  <a:schemeClr val="lt1"/>
                </a:solidFill>
                <a:latin typeface="Urbanist"/>
                <a:ea typeface="Urbanist"/>
                <a:cs typeface="Urbanist"/>
                <a:sym typeface="Urbanist"/>
              </a:rPr>
              <a:t>Excellent baseline</a:t>
            </a:r>
            <a:br>
              <a:rPr lang="en" sz="900">
                <a:solidFill>
                  <a:schemeClr val="lt1"/>
                </a:solidFill>
                <a:latin typeface="Urbanist"/>
                <a:ea typeface="Urbanist"/>
                <a:cs typeface="Urbanist"/>
                <a:sym typeface="Urbanist"/>
              </a:rPr>
            </a:br>
            <a:endParaRPr sz="900">
              <a:solidFill>
                <a:schemeClr val="lt1"/>
              </a:solidFill>
              <a:latin typeface="Urbanist"/>
              <a:ea typeface="Urbanist"/>
              <a:cs typeface="Urbanist"/>
              <a:sym typeface="Urbanist"/>
            </a:endParaRPr>
          </a:p>
          <a:p>
            <a:pPr indent="-323850" lvl="0" marL="457200" rtl="0" algn="l">
              <a:spcBef>
                <a:spcPts val="0"/>
              </a:spcBef>
              <a:spcAft>
                <a:spcPts val="0"/>
              </a:spcAft>
              <a:buClr>
                <a:schemeClr val="lt1"/>
              </a:buClr>
              <a:buSzPts val="1500"/>
              <a:buFont typeface="Urbanist"/>
              <a:buChar char="❏"/>
            </a:pPr>
            <a:r>
              <a:rPr lang="en" sz="900">
                <a:solidFill>
                  <a:schemeClr val="lt1"/>
                </a:solidFill>
                <a:latin typeface="Urbanist"/>
                <a:ea typeface="Urbanist"/>
                <a:cs typeface="Urbanist"/>
                <a:sym typeface="Urbanist"/>
              </a:rPr>
              <a:t>Indicates your preprocessing (scaling + encoding) worked well</a:t>
            </a:r>
            <a:br>
              <a:rPr lang="en" sz="900">
                <a:solidFill>
                  <a:schemeClr val="lt1"/>
                </a:solidFill>
                <a:latin typeface="Urbanist"/>
                <a:ea typeface="Urbanist"/>
                <a:cs typeface="Urbanist"/>
                <a:sym typeface="Urbanist"/>
              </a:rPr>
            </a:br>
            <a:endParaRPr sz="900">
              <a:solidFill>
                <a:schemeClr val="lt1"/>
              </a:solidFill>
              <a:latin typeface="Urbanist"/>
              <a:ea typeface="Urbanist"/>
              <a:cs typeface="Urbanist"/>
              <a:sym typeface="Urbanist"/>
            </a:endParaRPr>
          </a:p>
          <a:p>
            <a:pPr indent="-323850" lvl="0" marL="457200" rtl="0" algn="l">
              <a:spcBef>
                <a:spcPts val="0"/>
              </a:spcBef>
              <a:spcAft>
                <a:spcPts val="0"/>
              </a:spcAft>
              <a:buClr>
                <a:schemeClr val="lt1"/>
              </a:buClr>
              <a:buSzPts val="1500"/>
              <a:buFont typeface="Urbanist"/>
              <a:buChar char="❏"/>
            </a:pPr>
            <a:r>
              <a:rPr lang="en" sz="900">
                <a:solidFill>
                  <a:schemeClr val="lt1"/>
                </a:solidFill>
                <a:latin typeface="Urbanist"/>
                <a:ea typeface="Urbanist"/>
                <a:cs typeface="Urbanist"/>
                <a:sym typeface="Urbanist"/>
              </a:rPr>
              <a:t>Logistic regression often performs surprisingly well here</a:t>
            </a:r>
            <a:br>
              <a:rPr lang="en" sz="900">
                <a:solidFill>
                  <a:schemeClr val="lt1"/>
                </a:solidFill>
                <a:latin typeface="Urbanist"/>
                <a:ea typeface="Urbanist"/>
                <a:cs typeface="Urbanist"/>
                <a:sym typeface="Urbanist"/>
              </a:rPr>
            </a:br>
            <a:endParaRPr sz="900">
              <a:solidFill>
                <a:schemeClr val="lt1"/>
              </a:solidFill>
              <a:latin typeface="Urbanist"/>
              <a:ea typeface="Urbanist"/>
              <a:cs typeface="Urbanist"/>
              <a:sym typeface="Urbanist"/>
            </a:endParaRPr>
          </a:p>
          <a:p>
            <a:pPr indent="-323850" lvl="0" marL="457200" rtl="0" algn="l">
              <a:spcBef>
                <a:spcPts val="0"/>
              </a:spcBef>
              <a:spcAft>
                <a:spcPts val="0"/>
              </a:spcAft>
              <a:buClr>
                <a:schemeClr val="lt1"/>
              </a:buClr>
              <a:buSzPts val="1500"/>
              <a:buFont typeface="Urbanist"/>
              <a:buChar char="❏"/>
            </a:pPr>
            <a:r>
              <a:rPr lang="en" sz="900">
                <a:solidFill>
                  <a:schemeClr val="lt1"/>
                </a:solidFill>
                <a:latin typeface="Urbanist"/>
                <a:ea typeface="Urbanist"/>
                <a:cs typeface="Urbanist"/>
                <a:sym typeface="Urbanist"/>
              </a:rPr>
              <a:t>AUC 0.881 means the model separates classes effectively</a:t>
            </a:r>
            <a:endParaRPr sz="900">
              <a:solidFill>
                <a:schemeClr val="lt1"/>
              </a:solidFill>
              <a:latin typeface="Urbanist"/>
              <a:ea typeface="Urbanist"/>
              <a:cs typeface="Urbanist"/>
              <a:sym typeface="Urbanist"/>
            </a:endParaRPr>
          </a:p>
        </p:txBody>
      </p:sp>
      <p:sp>
        <p:nvSpPr>
          <p:cNvPr id="648" name="Google Shape;648;p57"/>
          <p:cNvSpPr txBox="1"/>
          <p:nvPr>
            <p:ph idx="7" type="title"/>
          </p:nvPr>
        </p:nvSpPr>
        <p:spPr>
          <a:xfrm>
            <a:off x="6239189" y="335175"/>
            <a:ext cx="14613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Decision Tree</a:t>
            </a:r>
            <a:endParaRPr>
              <a:latin typeface="Urbanist Medium"/>
              <a:ea typeface="Urbanist Medium"/>
              <a:cs typeface="Urbanist Medium"/>
              <a:sym typeface="Urbanist Medium"/>
            </a:endParaRPr>
          </a:p>
        </p:txBody>
      </p:sp>
      <p:sp>
        <p:nvSpPr>
          <p:cNvPr id="649" name="Google Shape;649;p57"/>
          <p:cNvSpPr txBox="1"/>
          <p:nvPr>
            <p:ph idx="16" type="title"/>
          </p:nvPr>
        </p:nvSpPr>
        <p:spPr>
          <a:xfrm>
            <a:off x="4818850" y="2571760"/>
            <a:ext cx="1461300" cy="5559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Random Forest</a:t>
            </a:r>
            <a:endParaRPr>
              <a:latin typeface="Urbanist Medium"/>
              <a:ea typeface="Urbanist Medium"/>
              <a:cs typeface="Urbanist Medium"/>
              <a:sym typeface="Urbanist Medium"/>
            </a:endParaRPr>
          </a:p>
        </p:txBody>
      </p:sp>
      <p:pic>
        <p:nvPicPr>
          <p:cNvPr descr="A rugged brown and white texture, like hundreds of tiny threads." id="650" name="Google Shape;650;p57"/>
          <p:cNvPicPr preferRelativeResize="0"/>
          <p:nvPr>
            <p:ph idx="2" type="pic"/>
          </p:nvPr>
        </p:nvPicPr>
        <p:blipFill rotWithShape="1">
          <a:blip r:embed="rId3">
            <a:alphaModFix/>
          </a:blip>
          <a:srcRect b="0" l="18490" r="18490" t="0"/>
          <a:stretch/>
        </p:blipFill>
        <p:spPr>
          <a:xfrm>
            <a:off x="240275" y="228600"/>
            <a:ext cx="2823025" cy="4224051"/>
          </a:xfrm>
          <a:prstGeom prst="rect">
            <a:avLst/>
          </a:prstGeom>
          <a:noFill/>
          <a:ln>
            <a:noFill/>
          </a:ln>
          <a:effectLst>
            <a:reflection blurRad="0" dir="5400000" dist="38100" endA="0" endPos="4000" fadeDir="5400012" kx="0" rotWithShape="0" algn="bl" stPos="0" sy="-100000" ky="0"/>
          </a:effectLst>
        </p:spPr>
      </p:pic>
      <p:sp>
        <p:nvSpPr>
          <p:cNvPr id="651" name="Google Shape;651;p57"/>
          <p:cNvSpPr txBox="1"/>
          <p:nvPr>
            <p:ph type="title"/>
          </p:nvPr>
        </p:nvSpPr>
        <p:spPr>
          <a:xfrm>
            <a:off x="727500" y="2028350"/>
            <a:ext cx="1962600" cy="4251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i="1" lang="en" sz="1800">
                <a:solidFill>
                  <a:schemeClr val="accent3"/>
                </a:solidFill>
              </a:rPr>
              <a:t>Model impressions</a:t>
            </a:r>
            <a:endParaRPr b="1" i="1" sz="1800">
              <a:solidFill>
                <a:schemeClr val="accent3"/>
              </a:solidFill>
            </a:endParaRPr>
          </a:p>
          <a:p>
            <a:pPr indent="0" lvl="0" marL="0" rtl="0" algn="l">
              <a:spcBef>
                <a:spcPts val="0"/>
              </a:spcBef>
              <a:spcAft>
                <a:spcPts val="0"/>
              </a:spcAft>
              <a:buNone/>
            </a:pPr>
            <a:r>
              <a:t/>
            </a:r>
            <a:endParaRPr>
              <a:latin typeface="Urbanist Medium"/>
              <a:ea typeface="Urbanist Medium"/>
              <a:cs typeface="Urbanist Medium"/>
              <a:sym typeface="Urbanist Medium"/>
            </a:endParaRPr>
          </a:p>
        </p:txBody>
      </p:sp>
      <p:sp>
        <p:nvSpPr>
          <p:cNvPr id="652" name="Google Shape;652;p57"/>
          <p:cNvSpPr/>
          <p:nvPr/>
        </p:nvSpPr>
        <p:spPr>
          <a:xfrm flipH="1">
            <a:off x="7795775" y="259650"/>
            <a:ext cx="1093800" cy="4938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900">
                <a:solidFill>
                  <a:schemeClr val="dk1"/>
                </a:solidFill>
                <a:latin typeface="Urbanist"/>
                <a:ea typeface="Urbanist"/>
                <a:cs typeface="Urbanist"/>
                <a:sym typeface="Urbanist"/>
              </a:rPr>
              <a:t>Accuracy=0.78</a:t>
            </a:r>
            <a:endParaRPr b="1" sz="900">
              <a:solidFill>
                <a:schemeClr val="dk1"/>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rPr b="1" lang="en" sz="900">
                <a:solidFill>
                  <a:schemeClr val="dk1"/>
                </a:solidFill>
                <a:latin typeface="Urbanist"/>
                <a:ea typeface="Urbanist"/>
                <a:cs typeface="Urbanist"/>
                <a:sym typeface="Urbanist"/>
              </a:rPr>
              <a:t>AUC=0.859</a:t>
            </a:r>
            <a:endParaRPr b="1" sz="900">
              <a:solidFill>
                <a:schemeClr val="dk1"/>
              </a:solidFill>
              <a:latin typeface="Urbanist"/>
              <a:ea typeface="Urbanist"/>
              <a:cs typeface="Urbanist"/>
              <a:sym typeface="Urbanist"/>
            </a:endParaRPr>
          </a:p>
        </p:txBody>
      </p:sp>
      <p:sp>
        <p:nvSpPr>
          <p:cNvPr id="653" name="Google Shape;653;p57"/>
          <p:cNvSpPr/>
          <p:nvPr/>
        </p:nvSpPr>
        <p:spPr>
          <a:xfrm flipH="1">
            <a:off x="6391325" y="2482700"/>
            <a:ext cx="1093800" cy="4938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900">
                <a:solidFill>
                  <a:schemeClr val="dk1"/>
                </a:solidFill>
                <a:latin typeface="Urbanist"/>
                <a:ea typeface="Urbanist"/>
                <a:cs typeface="Urbanist"/>
                <a:sym typeface="Urbanist"/>
              </a:rPr>
              <a:t>Accuracy=0.8</a:t>
            </a:r>
            <a:endParaRPr b="1" sz="900">
              <a:solidFill>
                <a:schemeClr val="dk1"/>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rPr b="1" lang="en" sz="900">
                <a:solidFill>
                  <a:schemeClr val="dk1"/>
                </a:solidFill>
                <a:latin typeface="Urbanist"/>
                <a:ea typeface="Urbanist"/>
                <a:cs typeface="Urbanist"/>
                <a:sym typeface="Urbanist"/>
              </a:rPr>
              <a:t>AUC=0.893</a:t>
            </a:r>
            <a:endParaRPr b="1" sz="900">
              <a:solidFill>
                <a:schemeClr val="dk1"/>
              </a:solidFill>
              <a:latin typeface="Urbanist"/>
              <a:ea typeface="Urbanist"/>
              <a:cs typeface="Urbanist"/>
              <a:sym typeface="Urbanist"/>
            </a:endParaRPr>
          </a:p>
        </p:txBody>
      </p:sp>
      <p:sp>
        <p:nvSpPr>
          <p:cNvPr id="654" name="Google Shape;654;p57"/>
          <p:cNvSpPr txBox="1"/>
          <p:nvPr>
            <p:ph idx="6" type="subTitle"/>
          </p:nvPr>
        </p:nvSpPr>
        <p:spPr>
          <a:xfrm>
            <a:off x="6169375" y="704825"/>
            <a:ext cx="2444700" cy="1476000"/>
          </a:xfrm>
          <a:prstGeom prst="rect">
            <a:avLst/>
          </a:prstGeom>
        </p:spPr>
        <p:txBody>
          <a:bodyPr anchorCtr="0" anchor="t" bIns="91425" lIns="0" spcFirstLastPara="1" rIns="91425" wrap="square" tIns="0">
            <a:noAutofit/>
          </a:bodyPr>
          <a:lstStyle/>
          <a:p>
            <a:pPr indent="-323850" lvl="0" marL="457200" rtl="0" algn="l">
              <a:spcBef>
                <a:spcPts val="0"/>
              </a:spcBef>
              <a:spcAft>
                <a:spcPts val="0"/>
              </a:spcAft>
              <a:buSzPts val="1500"/>
              <a:buChar char="❏"/>
            </a:pPr>
            <a:r>
              <a:rPr lang="en" sz="900">
                <a:solidFill>
                  <a:schemeClr val="lt1"/>
                </a:solidFill>
                <a:latin typeface="Urbanist"/>
                <a:ea typeface="Urbanist"/>
                <a:cs typeface="Urbanist"/>
                <a:sym typeface="Urbanist"/>
              </a:rPr>
              <a:t>Slightly lower accuracy, which is normal</a:t>
            </a:r>
            <a:br>
              <a:rPr lang="en" sz="900">
                <a:solidFill>
                  <a:schemeClr val="lt1"/>
                </a:solidFill>
                <a:latin typeface="Urbanist"/>
                <a:ea typeface="Urbanist"/>
                <a:cs typeface="Urbanist"/>
                <a:sym typeface="Urbanist"/>
              </a:rPr>
            </a:br>
            <a:endParaRPr sz="900">
              <a:solidFill>
                <a:schemeClr val="lt1"/>
              </a:solidFill>
              <a:latin typeface="Urbanist"/>
              <a:ea typeface="Urbanist"/>
              <a:cs typeface="Urbanist"/>
              <a:sym typeface="Urbanist"/>
            </a:endParaRPr>
          </a:p>
          <a:p>
            <a:pPr indent="-323850" lvl="0" marL="457200" rtl="0" algn="l">
              <a:spcBef>
                <a:spcPts val="0"/>
              </a:spcBef>
              <a:spcAft>
                <a:spcPts val="0"/>
              </a:spcAft>
              <a:buSzPts val="1500"/>
              <a:buChar char="❏"/>
            </a:pPr>
            <a:r>
              <a:rPr lang="en" sz="900">
                <a:solidFill>
                  <a:schemeClr val="lt1"/>
                </a:solidFill>
                <a:latin typeface="Urbanist"/>
                <a:ea typeface="Urbanist"/>
                <a:cs typeface="Urbanist"/>
                <a:sym typeface="Urbanist"/>
              </a:rPr>
              <a:t>Trees overfit easier unless tuned heavily</a:t>
            </a:r>
            <a:br>
              <a:rPr lang="en" sz="900">
                <a:solidFill>
                  <a:schemeClr val="lt1"/>
                </a:solidFill>
                <a:latin typeface="Urbanist"/>
                <a:ea typeface="Urbanist"/>
                <a:cs typeface="Urbanist"/>
                <a:sym typeface="Urbanist"/>
              </a:rPr>
            </a:br>
            <a:endParaRPr sz="900">
              <a:solidFill>
                <a:schemeClr val="lt1"/>
              </a:solidFill>
              <a:latin typeface="Urbanist"/>
              <a:ea typeface="Urbanist"/>
              <a:cs typeface="Urbanist"/>
              <a:sym typeface="Urbanist"/>
            </a:endParaRPr>
          </a:p>
          <a:p>
            <a:pPr indent="-323850" lvl="0" marL="457200" rtl="0" algn="l">
              <a:spcBef>
                <a:spcPts val="0"/>
              </a:spcBef>
              <a:spcAft>
                <a:spcPts val="0"/>
              </a:spcAft>
              <a:buSzPts val="1500"/>
              <a:buChar char="❏"/>
            </a:pPr>
            <a:r>
              <a:rPr lang="en" sz="900">
                <a:solidFill>
                  <a:schemeClr val="lt1"/>
                </a:solidFill>
                <a:latin typeface="Urbanist"/>
                <a:ea typeface="Urbanist"/>
                <a:cs typeface="Urbanist"/>
                <a:sym typeface="Urbanist"/>
              </a:rPr>
              <a:t>AUC 0.859 is good for a single-tree model</a:t>
            </a:r>
            <a:br>
              <a:rPr lang="en" sz="900">
                <a:solidFill>
                  <a:schemeClr val="lt1"/>
                </a:solidFill>
                <a:latin typeface="Urbanist"/>
                <a:ea typeface="Urbanist"/>
                <a:cs typeface="Urbanist"/>
                <a:sym typeface="Urbanist"/>
              </a:rPr>
            </a:br>
            <a:endParaRPr sz="900">
              <a:solidFill>
                <a:schemeClr val="lt1"/>
              </a:solidFill>
              <a:latin typeface="Urbanist"/>
              <a:ea typeface="Urbanist"/>
              <a:cs typeface="Urbanist"/>
              <a:sym typeface="Urbanist"/>
            </a:endParaRPr>
          </a:p>
          <a:p>
            <a:pPr indent="-323850" lvl="0" marL="457200" rtl="0" algn="l">
              <a:spcBef>
                <a:spcPts val="0"/>
              </a:spcBef>
              <a:spcAft>
                <a:spcPts val="0"/>
              </a:spcAft>
              <a:buSzPts val="1500"/>
              <a:buChar char="❏"/>
            </a:pPr>
            <a:r>
              <a:rPr lang="en" sz="900">
                <a:solidFill>
                  <a:schemeClr val="lt1"/>
                </a:solidFill>
                <a:latin typeface="Urbanist"/>
                <a:ea typeface="Urbanist"/>
                <a:cs typeface="Urbanist"/>
                <a:sym typeface="Urbanist"/>
              </a:rPr>
              <a:t>Confirms that non-linear splits help, but not as much as you need</a:t>
            </a:r>
            <a:endParaRPr sz="900">
              <a:solidFill>
                <a:schemeClr val="lt1"/>
              </a:solidFill>
              <a:latin typeface="Urbanist"/>
              <a:ea typeface="Urbanist"/>
              <a:cs typeface="Urbanist"/>
              <a:sym typeface="Urbanist"/>
            </a:endParaRPr>
          </a:p>
        </p:txBody>
      </p:sp>
      <p:sp>
        <p:nvSpPr>
          <p:cNvPr id="655" name="Google Shape;655;p57"/>
          <p:cNvSpPr txBox="1"/>
          <p:nvPr>
            <p:ph idx="6" type="subTitle"/>
          </p:nvPr>
        </p:nvSpPr>
        <p:spPr>
          <a:xfrm>
            <a:off x="4767000" y="3278375"/>
            <a:ext cx="2444700" cy="1476000"/>
          </a:xfrm>
          <a:prstGeom prst="rect">
            <a:avLst/>
          </a:prstGeom>
        </p:spPr>
        <p:txBody>
          <a:bodyPr anchorCtr="0" anchor="t" bIns="91425" lIns="0" spcFirstLastPara="1" rIns="91425" wrap="square" tIns="0">
            <a:noAutofit/>
          </a:bodyPr>
          <a:lstStyle/>
          <a:p>
            <a:pPr indent="-323850" lvl="0" marL="457200" rtl="0" algn="l">
              <a:spcBef>
                <a:spcPts val="0"/>
              </a:spcBef>
              <a:spcAft>
                <a:spcPts val="0"/>
              </a:spcAft>
              <a:buSzPts val="1500"/>
              <a:buChar char="❏"/>
            </a:pPr>
            <a:r>
              <a:rPr lang="en" sz="900">
                <a:solidFill>
                  <a:schemeClr val="lt1"/>
                </a:solidFill>
                <a:latin typeface="Urbanist"/>
                <a:ea typeface="Urbanist"/>
                <a:cs typeface="Urbanist"/>
                <a:sym typeface="Urbanist"/>
              </a:rPr>
              <a:t>Best accuracy </a:t>
            </a:r>
            <a:br>
              <a:rPr lang="en" sz="900">
                <a:solidFill>
                  <a:schemeClr val="lt1"/>
                </a:solidFill>
                <a:latin typeface="Urbanist"/>
                <a:ea typeface="Urbanist"/>
                <a:cs typeface="Urbanist"/>
                <a:sym typeface="Urbanist"/>
              </a:rPr>
            </a:br>
            <a:endParaRPr sz="900">
              <a:solidFill>
                <a:schemeClr val="lt1"/>
              </a:solidFill>
              <a:latin typeface="Urbanist"/>
              <a:ea typeface="Urbanist"/>
              <a:cs typeface="Urbanist"/>
              <a:sym typeface="Urbanist"/>
            </a:endParaRPr>
          </a:p>
          <a:p>
            <a:pPr indent="-323850" lvl="0" marL="457200" rtl="0" algn="l">
              <a:spcBef>
                <a:spcPts val="0"/>
              </a:spcBef>
              <a:spcAft>
                <a:spcPts val="0"/>
              </a:spcAft>
              <a:buSzPts val="1500"/>
              <a:buChar char="❏"/>
            </a:pPr>
            <a:r>
              <a:rPr lang="en" sz="900">
                <a:solidFill>
                  <a:schemeClr val="lt1"/>
                </a:solidFill>
                <a:latin typeface="Urbanist"/>
                <a:ea typeface="Urbanist"/>
                <a:cs typeface="Urbanist"/>
                <a:sym typeface="Urbanist"/>
              </a:rPr>
              <a:t>Best AUC </a:t>
            </a:r>
            <a:br>
              <a:rPr lang="en" sz="900">
                <a:solidFill>
                  <a:schemeClr val="lt1"/>
                </a:solidFill>
                <a:latin typeface="Urbanist"/>
                <a:ea typeface="Urbanist"/>
                <a:cs typeface="Urbanist"/>
                <a:sym typeface="Urbanist"/>
              </a:rPr>
            </a:br>
            <a:endParaRPr sz="900">
              <a:solidFill>
                <a:schemeClr val="lt1"/>
              </a:solidFill>
              <a:latin typeface="Urbanist"/>
              <a:ea typeface="Urbanist"/>
              <a:cs typeface="Urbanist"/>
              <a:sym typeface="Urbanist"/>
            </a:endParaRPr>
          </a:p>
          <a:p>
            <a:pPr indent="-323850" lvl="0" marL="457200" rtl="0" algn="l">
              <a:spcBef>
                <a:spcPts val="0"/>
              </a:spcBef>
              <a:spcAft>
                <a:spcPts val="0"/>
              </a:spcAft>
              <a:buSzPts val="1500"/>
              <a:buChar char="❏"/>
            </a:pPr>
            <a:r>
              <a:rPr lang="en" sz="900">
                <a:solidFill>
                  <a:schemeClr val="lt1"/>
                </a:solidFill>
                <a:latin typeface="Urbanist"/>
                <a:ea typeface="Urbanist"/>
                <a:cs typeface="Urbanist"/>
                <a:sym typeface="Urbanist"/>
              </a:rPr>
              <a:t>Combines many trees → reduces overfitting</a:t>
            </a:r>
            <a:endParaRPr sz="900">
              <a:solidFill>
                <a:schemeClr val="lt1"/>
              </a:solidFill>
              <a:latin typeface="Urbanist"/>
              <a:ea typeface="Urbanist"/>
              <a:cs typeface="Urbanist"/>
              <a:sym typeface="Urbanis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58"/>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600">
                <a:solidFill>
                  <a:schemeClr val="accent3"/>
                </a:solidFill>
              </a:rPr>
              <a:t>Results</a:t>
            </a:r>
            <a:endParaRPr sz="1600">
              <a:solidFill>
                <a:schemeClr val="accent3"/>
              </a:solidFill>
            </a:endParaRPr>
          </a:p>
        </p:txBody>
      </p:sp>
      <p:pic>
        <p:nvPicPr>
          <p:cNvPr id="661" name="Google Shape;661;p58" title="9.png"/>
          <p:cNvPicPr preferRelativeResize="0"/>
          <p:nvPr/>
        </p:nvPicPr>
        <p:blipFill>
          <a:blip r:embed="rId3">
            <a:alphaModFix/>
          </a:blip>
          <a:stretch>
            <a:fillRect/>
          </a:stretch>
        </p:blipFill>
        <p:spPr>
          <a:xfrm>
            <a:off x="228600" y="609600"/>
            <a:ext cx="2043500" cy="3843126"/>
          </a:xfrm>
          <a:prstGeom prst="rect">
            <a:avLst/>
          </a:prstGeom>
          <a:noFill/>
          <a:ln>
            <a:noFill/>
          </a:ln>
        </p:spPr>
      </p:pic>
      <p:pic>
        <p:nvPicPr>
          <p:cNvPr id="662" name="Google Shape;662;p58" title="8.png"/>
          <p:cNvPicPr preferRelativeResize="0"/>
          <p:nvPr/>
        </p:nvPicPr>
        <p:blipFill>
          <a:blip r:embed="rId4">
            <a:alphaModFix/>
          </a:blip>
          <a:stretch>
            <a:fillRect/>
          </a:stretch>
        </p:blipFill>
        <p:spPr>
          <a:xfrm>
            <a:off x="2510975" y="609600"/>
            <a:ext cx="4962525" cy="1276350"/>
          </a:xfrm>
          <a:prstGeom prst="rect">
            <a:avLst/>
          </a:prstGeom>
          <a:noFill/>
          <a:ln>
            <a:noFill/>
          </a:ln>
        </p:spPr>
      </p:pic>
      <p:sp>
        <p:nvSpPr>
          <p:cNvPr id="663" name="Google Shape;663;p58"/>
          <p:cNvSpPr txBox="1"/>
          <p:nvPr>
            <p:ph idx="4" type="subTitle"/>
          </p:nvPr>
        </p:nvSpPr>
        <p:spPr>
          <a:xfrm>
            <a:off x="2598025" y="2657125"/>
            <a:ext cx="34323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i="1" lang="en" sz="1300" u="sng">
                <a:solidFill>
                  <a:schemeClr val="accent5"/>
                </a:solidFill>
                <a:latin typeface="Urbanist"/>
                <a:ea typeface="Urbanist"/>
                <a:cs typeface="Urbanist"/>
                <a:sym typeface="Urbanist"/>
              </a:rPr>
              <a:t>Transported Passengers: 2024 out of 4277</a:t>
            </a:r>
            <a:endParaRPr b="1" i="1" sz="1300" u="sng">
              <a:solidFill>
                <a:schemeClr val="accent5"/>
              </a:solidFill>
              <a:latin typeface="Urbanist"/>
              <a:ea typeface="Urbanist"/>
              <a:cs typeface="Urbanist"/>
              <a:sym typeface="Urbanist"/>
            </a:endParaRPr>
          </a:p>
          <a:p>
            <a:pPr indent="0" lvl="0" marL="0" rtl="0" algn="l">
              <a:lnSpc>
                <a:spcPct val="130770"/>
              </a:lnSpc>
              <a:spcBef>
                <a:spcPts val="0"/>
              </a:spcBef>
              <a:spcAft>
                <a:spcPts val="0"/>
              </a:spcAft>
              <a:buClr>
                <a:schemeClr val="dk1"/>
              </a:buClr>
              <a:buSzPts val="1100"/>
              <a:buFont typeface="Arial"/>
              <a:buNone/>
            </a:pPr>
            <a:r>
              <a:t/>
            </a:r>
            <a:endParaRPr sz="1000">
              <a:solidFill>
                <a:schemeClr val="dk1"/>
              </a:solidFill>
              <a:highlight>
                <a:srgbClr val="FFFFFF"/>
              </a:highlight>
              <a:latin typeface="Courier New"/>
              <a:ea typeface="Courier New"/>
              <a:cs typeface="Courier New"/>
              <a:sym typeface="Courier New"/>
            </a:endParaRPr>
          </a:p>
          <a:p>
            <a:pPr indent="0" lvl="0" marL="0" rtl="0" algn="l">
              <a:lnSpc>
                <a:spcPct val="130770"/>
              </a:lnSpc>
              <a:spcBef>
                <a:spcPts val="0"/>
              </a:spcBef>
              <a:spcAft>
                <a:spcPts val="0"/>
              </a:spcAft>
              <a:buClr>
                <a:schemeClr val="dk1"/>
              </a:buClr>
              <a:buSzPts val="1100"/>
              <a:buFont typeface="Arial"/>
              <a:buNone/>
            </a:pPr>
            <a:r>
              <a:t/>
            </a:r>
            <a:endParaRPr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600">
              <a:solidFill>
                <a:schemeClr val="accent3"/>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9"/>
          <p:cNvSpPr txBox="1"/>
          <p:nvPr>
            <p:ph type="title"/>
          </p:nvPr>
        </p:nvSpPr>
        <p:spPr>
          <a:xfrm>
            <a:off x="228600" y="290450"/>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solidFill>
                  <a:schemeClr val="lt1"/>
                </a:solidFill>
              </a:rPr>
              <a:t>Thank you</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